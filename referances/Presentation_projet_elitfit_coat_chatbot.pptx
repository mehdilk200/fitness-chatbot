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aret Bold" charset="1" panose="00000000000000000000"/>
      <p:regular r:id="rId20"/>
    </p:embeddedFont>
    <p:embeddedFont>
      <p:font typeface="Roboto Bold Italics" charset="1" panose="02000000000000000000"/>
      <p:regular r:id="rId21"/>
    </p:embeddedFont>
    <p:embeddedFont>
      <p:font typeface="Roboto" charset="1" panose="02000000000000000000"/>
      <p:regular r:id="rId22"/>
    </p:embeddedFont>
    <p:embeddedFont>
      <p:font typeface="Garet Light" charset="1" panose="00000000000000000000"/>
      <p:regular r:id="rId23"/>
    </p:embeddedFont>
    <p:embeddedFont>
      <p:font typeface="Roboto Bold" charset="1" panose="02000000000000000000"/>
      <p:regular r:id="rId24"/>
    </p:embeddedFont>
    <p:embeddedFont>
      <p:font typeface="Heading Now 71-78" charset="1" panose="00000000000000000000"/>
      <p:regular r:id="rId25"/>
    </p:embeddedFont>
    <p:embeddedFont>
      <p:font typeface="TT Firs Neue Bold" charset="1" panose="02000803030000020004"/>
      <p:regular r:id="rId26"/>
    </p:embeddedFont>
    <p:embeddedFont>
      <p:font typeface="Heading Now 71-78 Bold"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media/image38.png" Type="http://schemas.openxmlformats.org/officeDocument/2006/relationships/image"/><Relationship Id="rId3" Target="../media/image3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sp>
        <p:nvSpPr>
          <p:cNvPr name="TextBox 2" id="2"/>
          <p:cNvSpPr txBox="true"/>
          <p:nvPr/>
        </p:nvSpPr>
        <p:spPr>
          <a:xfrm rot="0">
            <a:off x="8644265" y="1251496"/>
            <a:ext cx="5746178" cy="1569475"/>
          </a:xfrm>
          <a:prstGeom prst="rect">
            <a:avLst/>
          </a:prstGeom>
        </p:spPr>
        <p:txBody>
          <a:bodyPr anchor="t" rtlCol="false" tIns="0" lIns="0" bIns="0" rIns="0">
            <a:spAutoFit/>
          </a:bodyPr>
          <a:lstStyle/>
          <a:p>
            <a:pPr algn="l">
              <a:lnSpc>
                <a:spcPts val="11766"/>
              </a:lnSpc>
            </a:pPr>
            <a:r>
              <a:rPr lang="en-US" sz="11766" b="true">
                <a:solidFill>
                  <a:srgbClr val="060606"/>
                </a:solidFill>
                <a:latin typeface="Garet Bold"/>
                <a:ea typeface="Garet Bold"/>
                <a:cs typeface="Garet Bold"/>
                <a:sym typeface="Garet Bold"/>
              </a:rPr>
              <a:t>ELITE</a:t>
            </a:r>
          </a:p>
        </p:txBody>
      </p:sp>
      <p:grpSp>
        <p:nvGrpSpPr>
          <p:cNvPr name="Group 3" id="3"/>
          <p:cNvGrpSpPr/>
          <p:nvPr/>
        </p:nvGrpSpPr>
        <p:grpSpPr>
          <a:xfrm rot="0">
            <a:off x="15972283" y="3781627"/>
            <a:ext cx="363553" cy="3635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5" id="5"/>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60199" y="0"/>
            <a:ext cx="6542789" cy="10287000"/>
            <a:chOff x="0" y="0"/>
            <a:chExt cx="1723204" cy="2709333"/>
          </a:xfrm>
        </p:grpSpPr>
        <p:sp>
          <p:nvSpPr>
            <p:cNvPr name="Freeform 7" id="7"/>
            <p:cNvSpPr/>
            <p:nvPr/>
          </p:nvSpPr>
          <p:spPr>
            <a:xfrm flipH="false" flipV="false" rot="0">
              <a:off x="0" y="0"/>
              <a:ext cx="1723204" cy="2709333"/>
            </a:xfrm>
            <a:custGeom>
              <a:avLst/>
              <a:gdLst/>
              <a:ahLst/>
              <a:cxnLst/>
              <a:rect r="r" b="b" t="t" l="l"/>
              <a:pathLst>
                <a:path h="2709333" w="1723204">
                  <a:moveTo>
                    <a:pt x="0" y="0"/>
                  </a:moveTo>
                  <a:lnTo>
                    <a:pt x="1723204" y="0"/>
                  </a:lnTo>
                  <a:lnTo>
                    <a:pt x="1723204" y="2709333"/>
                  </a:lnTo>
                  <a:lnTo>
                    <a:pt x="0" y="2709333"/>
                  </a:lnTo>
                  <a:close/>
                </a:path>
              </a:pathLst>
            </a:custGeom>
            <a:solidFill>
              <a:srgbClr val="D0F046"/>
            </a:solidFill>
          </p:spPr>
        </p:sp>
        <p:sp>
          <p:nvSpPr>
            <p:cNvPr name="TextBox 8" id="8"/>
            <p:cNvSpPr txBox="true"/>
            <p:nvPr/>
          </p:nvSpPr>
          <p:spPr>
            <a:xfrm>
              <a:off x="0" y="47625"/>
              <a:ext cx="1723204" cy="2661708"/>
            </a:xfrm>
            <a:prstGeom prst="rect">
              <a:avLst/>
            </a:prstGeom>
          </p:spPr>
          <p:txBody>
            <a:bodyPr anchor="ctr" rtlCol="false" tIns="50800" lIns="50800" bIns="50800" rIns="50800"/>
            <a:lstStyle/>
            <a:p>
              <a:pPr algn="ctr">
                <a:lnSpc>
                  <a:spcPts val="2199"/>
                </a:lnSpc>
              </a:pPr>
            </a:p>
          </p:txBody>
        </p:sp>
      </p:grpSp>
      <p:sp>
        <p:nvSpPr>
          <p:cNvPr name="TextBox 9" id="9"/>
          <p:cNvSpPr txBox="true"/>
          <p:nvPr/>
        </p:nvSpPr>
        <p:spPr>
          <a:xfrm rot="0">
            <a:off x="8617016" y="5972072"/>
            <a:ext cx="7718819" cy="697504"/>
          </a:xfrm>
          <a:prstGeom prst="rect">
            <a:avLst/>
          </a:prstGeom>
        </p:spPr>
        <p:txBody>
          <a:bodyPr anchor="t" rtlCol="false" tIns="0" lIns="0" bIns="0" rIns="0">
            <a:spAutoFit/>
          </a:bodyPr>
          <a:lstStyle/>
          <a:p>
            <a:pPr algn="l" marL="0" indent="0" lvl="0">
              <a:lnSpc>
                <a:spcPts val="2632"/>
              </a:lnSpc>
            </a:pPr>
            <a:r>
              <a:rPr lang="en-US" b="true" sz="2632" i="true">
                <a:solidFill>
                  <a:srgbClr val="060606"/>
                </a:solidFill>
                <a:latin typeface="Roboto Bold Italics"/>
                <a:ea typeface="Roboto Bold Italics"/>
                <a:cs typeface="Roboto Bold Italics"/>
                <a:sym typeface="Roboto Bold Italics"/>
              </a:rPr>
              <a:t>Votre coach virtuel intelligent — RAG + LLM + Profil Personnalisé</a:t>
            </a:r>
          </a:p>
        </p:txBody>
      </p:sp>
      <p:sp>
        <p:nvSpPr>
          <p:cNvPr name="TextBox 10" id="10"/>
          <p:cNvSpPr txBox="true"/>
          <p:nvPr/>
        </p:nvSpPr>
        <p:spPr>
          <a:xfrm rot="0">
            <a:off x="8617016" y="7321085"/>
            <a:ext cx="7718819" cy="1122415"/>
          </a:xfrm>
          <a:prstGeom prst="rect">
            <a:avLst/>
          </a:prstGeom>
        </p:spPr>
        <p:txBody>
          <a:bodyPr anchor="t" rtlCol="false" tIns="0" lIns="0" bIns="0" rIns="0">
            <a:spAutoFit/>
          </a:bodyPr>
          <a:lstStyle/>
          <a:p>
            <a:pPr algn="just" marL="0" indent="0" lvl="0">
              <a:lnSpc>
                <a:spcPts val="2199"/>
              </a:lnSpc>
            </a:pPr>
            <a:r>
              <a:rPr lang="en-US" sz="2199">
                <a:solidFill>
                  <a:srgbClr val="060606"/>
                </a:solidFill>
                <a:latin typeface="Roboto"/>
                <a:ea typeface="Roboto"/>
                <a:cs typeface="Roboto"/>
                <a:sym typeface="Roboto"/>
              </a:rPr>
              <a:t>Ce projet présente la conception d'un coach virtuel intelligent, une solution innovante qui repense l'accompagnement personnalisé grâce aux technologies de pointe de l'intelligence artificielle</a:t>
            </a:r>
          </a:p>
        </p:txBody>
      </p:sp>
      <p:sp>
        <p:nvSpPr>
          <p:cNvPr name="TextBox 11" id="11"/>
          <p:cNvSpPr txBox="true"/>
          <p:nvPr/>
        </p:nvSpPr>
        <p:spPr>
          <a:xfrm rot="0">
            <a:off x="8617016" y="3293412"/>
            <a:ext cx="6663870" cy="669992"/>
          </a:xfrm>
          <a:prstGeom prst="rect">
            <a:avLst/>
          </a:prstGeom>
        </p:spPr>
        <p:txBody>
          <a:bodyPr anchor="t" rtlCol="false" tIns="0" lIns="0" bIns="0" rIns="0">
            <a:spAutoFit/>
          </a:bodyPr>
          <a:lstStyle/>
          <a:p>
            <a:pPr algn="l">
              <a:lnSpc>
                <a:spcPts val="5000"/>
              </a:lnSpc>
            </a:pPr>
            <a:r>
              <a:rPr lang="en-US" sz="5000" spc="405">
                <a:solidFill>
                  <a:srgbClr val="DF0C05"/>
                </a:solidFill>
                <a:latin typeface="Garet Light"/>
                <a:ea typeface="Garet Light"/>
                <a:cs typeface="Garet Light"/>
                <a:sym typeface="Garet Light"/>
              </a:rPr>
              <a:t>CHATBOT COAT AI</a:t>
            </a:r>
          </a:p>
        </p:txBody>
      </p:sp>
      <p:sp>
        <p:nvSpPr>
          <p:cNvPr name="AutoShape 12" id="12"/>
          <p:cNvSpPr/>
          <p:nvPr/>
        </p:nvSpPr>
        <p:spPr>
          <a:xfrm flipH="true" flipV="true">
            <a:off x="8644265" y="61953"/>
            <a:ext cx="0" cy="10287000"/>
          </a:xfrm>
          <a:prstGeom prst="line">
            <a:avLst/>
          </a:prstGeom>
          <a:ln cap="flat" w="38100">
            <a:solidFill>
              <a:srgbClr val="57595F">
                <a:alpha val="9804"/>
              </a:srgbClr>
            </a:solidFill>
            <a:prstDash val="solid"/>
            <a:headEnd type="none" len="sm" w="sm"/>
            <a:tailEnd type="none" len="sm" w="sm"/>
          </a:ln>
        </p:spPr>
      </p:sp>
      <p:sp>
        <p:nvSpPr>
          <p:cNvPr name="AutoShape 13" id="13"/>
          <p:cNvSpPr/>
          <p:nvPr/>
        </p:nvSpPr>
        <p:spPr>
          <a:xfrm flipV="true">
            <a:off x="11201772" y="0"/>
            <a:ext cx="0" cy="10348953"/>
          </a:xfrm>
          <a:prstGeom prst="line">
            <a:avLst/>
          </a:prstGeom>
          <a:ln cap="flat" w="38100">
            <a:solidFill>
              <a:srgbClr val="57595F">
                <a:alpha val="9804"/>
              </a:srgbClr>
            </a:solidFill>
            <a:prstDash val="solid"/>
            <a:headEnd type="none" len="sm" w="sm"/>
            <a:tailEnd type="none" len="sm" w="sm"/>
          </a:ln>
        </p:spPr>
      </p:sp>
      <p:sp>
        <p:nvSpPr>
          <p:cNvPr name="AutoShape 14" id="14"/>
          <p:cNvSpPr/>
          <p:nvPr/>
        </p:nvSpPr>
        <p:spPr>
          <a:xfrm flipV="true">
            <a:off x="13759279" y="-61953"/>
            <a:ext cx="0" cy="10410906"/>
          </a:xfrm>
          <a:prstGeom prst="line">
            <a:avLst/>
          </a:prstGeom>
          <a:ln cap="flat" w="38100">
            <a:solidFill>
              <a:srgbClr val="57595F">
                <a:alpha val="9804"/>
              </a:srgbClr>
            </a:solidFill>
            <a:prstDash val="solid"/>
            <a:headEnd type="none" len="sm" w="sm"/>
            <a:tailEnd type="none" len="sm" w="sm"/>
          </a:ln>
        </p:spPr>
      </p:sp>
      <p:sp>
        <p:nvSpPr>
          <p:cNvPr name="AutoShape 15" id="15"/>
          <p:cNvSpPr/>
          <p:nvPr/>
        </p:nvSpPr>
        <p:spPr>
          <a:xfrm flipH="true" flipV="true">
            <a:off x="16316785" y="-123906"/>
            <a:ext cx="0" cy="10472859"/>
          </a:xfrm>
          <a:prstGeom prst="line">
            <a:avLst/>
          </a:prstGeom>
          <a:ln cap="flat" w="38100">
            <a:solidFill>
              <a:srgbClr val="57595F">
                <a:alpha val="9804"/>
              </a:srgbClr>
            </a:solidFill>
            <a:prstDash val="solid"/>
            <a:headEnd type="none" len="sm" w="sm"/>
            <a:tailEnd type="none" len="sm" w="sm"/>
          </a:ln>
        </p:spPr>
      </p:sp>
      <p:sp>
        <p:nvSpPr>
          <p:cNvPr name="Freeform 16" id="16"/>
          <p:cNvSpPr/>
          <p:nvPr/>
        </p:nvSpPr>
        <p:spPr>
          <a:xfrm flipH="false" flipV="false" rot="0">
            <a:off x="17153378" y="9159696"/>
            <a:ext cx="211845" cy="197208"/>
          </a:xfrm>
          <a:custGeom>
            <a:avLst/>
            <a:gdLst/>
            <a:ahLst/>
            <a:cxnLst/>
            <a:rect r="r" b="b" t="t" l="l"/>
            <a:pathLst>
              <a:path h="197208" w="211845">
                <a:moveTo>
                  <a:pt x="0" y="0"/>
                </a:moveTo>
                <a:lnTo>
                  <a:pt x="211844" y="0"/>
                </a:lnTo>
                <a:lnTo>
                  <a:pt x="211844" y="197208"/>
                </a:lnTo>
                <a:lnTo>
                  <a:pt x="0" y="1972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7153378" y="8535428"/>
            <a:ext cx="211845" cy="217378"/>
          </a:xfrm>
          <a:custGeom>
            <a:avLst/>
            <a:gdLst/>
            <a:ahLst/>
            <a:cxnLst/>
            <a:rect r="r" b="b" t="t" l="l"/>
            <a:pathLst>
              <a:path h="217378" w="211845">
                <a:moveTo>
                  <a:pt x="0" y="0"/>
                </a:moveTo>
                <a:lnTo>
                  <a:pt x="211844" y="0"/>
                </a:lnTo>
                <a:lnTo>
                  <a:pt x="211844" y="217378"/>
                </a:lnTo>
                <a:lnTo>
                  <a:pt x="0" y="2173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7153378" y="7914008"/>
            <a:ext cx="211845" cy="211845"/>
          </a:xfrm>
          <a:custGeom>
            <a:avLst/>
            <a:gdLst/>
            <a:ahLst/>
            <a:cxnLst/>
            <a:rect r="r" b="b" t="t" l="l"/>
            <a:pathLst>
              <a:path h="211845" w="211845">
                <a:moveTo>
                  <a:pt x="0" y="0"/>
                </a:moveTo>
                <a:lnTo>
                  <a:pt x="211844" y="0"/>
                </a:lnTo>
                <a:lnTo>
                  <a:pt x="211844" y="211845"/>
                </a:lnTo>
                <a:lnTo>
                  <a:pt x="0" y="21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7317144" y="6929892"/>
            <a:ext cx="283023" cy="28302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60606"/>
              </a:solidFill>
              <a:prstDash val="solid"/>
              <a:miter/>
            </a:ln>
          </p:spPr>
        </p:sp>
        <p:sp>
          <p:nvSpPr>
            <p:cNvPr name="TextBox 21" id="21"/>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22" id="22"/>
          <p:cNvGrpSpPr/>
          <p:nvPr/>
        </p:nvGrpSpPr>
        <p:grpSpPr>
          <a:xfrm rot="0">
            <a:off x="7390224" y="7002972"/>
            <a:ext cx="136863" cy="13686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24" id="24"/>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25" id="25"/>
          <p:cNvGrpSpPr/>
          <p:nvPr/>
        </p:nvGrpSpPr>
        <p:grpSpPr>
          <a:xfrm rot="0">
            <a:off x="7407890" y="7425390"/>
            <a:ext cx="101531" cy="10153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27" id="27"/>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28" id="28"/>
          <p:cNvGrpSpPr/>
          <p:nvPr/>
        </p:nvGrpSpPr>
        <p:grpSpPr>
          <a:xfrm rot="0">
            <a:off x="7407890" y="7812477"/>
            <a:ext cx="101531" cy="101531"/>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30" id="30"/>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31" id="31"/>
          <p:cNvGrpSpPr/>
          <p:nvPr/>
        </p:nvGrpSpPr>
        <p:grpSpPr>
          <a:xfrm rot="0">
            <a:off x="7407890" y="6231724"/>
            <a:ext cx="101531" cy="10153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33" id="33"/>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34" id="34"/>
          <p:cNvGrpSpPr/>
          <p:nvPr/>
        </p:nvGrpSpPr>
        <p:grpSpPr>
          <a:xfrm rot="0">
            <a:off x="7407890" y="6618811"/>
            <a:ext cx="101531" cy="101531"/>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36" id="36"/>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sp>
        <p:nvSpPr>
          <p:cNvPr name="Freeform 37" id="37"/>
          <p:cNvSpPr/>
          <p:nvPr/>
        </p:nvSpPr>
        <p:spPr>
          <a:xfrm flipH="false" flipV="false" rot="0">
            <a:off x="3114796" y="9258300"/>
            <a:ext cx="433594" cy="433594"/>
          </a:xfrm>
          <a:custGeom>
            <a:avLst/>
            <a:gdLst/>
            <a:ahLst/>
            <a:cxnLst/>
            <a:rect r="r" b="b" t="t" l="l"/>
            <a:pathLst>
              <a:path h="433594" w="433594">
                <a:moveTo>
                  <a:pt x="0" y="0"/>
                </a:moveTo>
                <a:lnTo>
                  <a:pt x="433594" y="0"/>
                </a:lnTo>
                <a:lnTo>
                  <a:pt x="433594" y="433594"/>
                </a:lnTo>
                <a:lnTo>
                  <a:pt x="0" y="4335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8" id="38"/>
          <p:cNvSpPr/>
          <p:nvPr/>
        </p:nvSpPr>
        <p:spPr>
          <a:xfrm flipH="false" flipV="false" rot="0">
            <a:off x="802869" y="1751612"/>
            <a:ext cx="6398802" cy="6783777"/>
          </a:xfrm>
          <a:custGeom>
            <a:avLst/>
            <a:gdLst/>
            <a:ahLst/>
            <a:cxnLst/>
            <a:rect r="r" b="b" t="t" l="l"/>
            <a:pathLst>
              <a:path h="6783777" w="6398802">
                <a:moveTo>
                  <a:pt x="0" y="0"/>
                </a:moveTo>
                <a:lnTo>
                  <a:pt x="6398802" y="0"/>
                </a:lnTo>
                <a:lnTo>
                  <a:pt x="6398802" y="6783776"/>
                </a:lnTo>
                <a:lnTo>
                  <a:pt x="0" y="6783776"/>
                </a:lnTo>
                <a:lnTo>
                  <a:pt x="0" y="0"/>
                </a:lnTo>
                <a:close/>
              </a:path>
            </a:pathLst>
          </a:custGeom>
          <a:blipFill>
            <a:blip r:embed="rId10"/>
            <a:stretch>
              <a:fillRect l="-19754" t="0" r="-21600" b="0"/>
            </a:stretch>
          </a:blipFill>
        </p:spPr>
      </p:sp>
      <p:grpSp>
        <p:nvGrpSpPr>
          <p:cNvPr name="Group 39" id="39"/>
          <p:cNvGrpSpPr/>
          <p:nvPr/>
        </p:nvGrpSpPr>
        <p:grpSpPr>
          <a:xfrm rot="0">
            <a:off x="13009876" y="1162937"/>
            <a:ext cx="3605722" cy="1520076"/>
            <a:chOff x="0" y="0"/>
            <a:chExt cx="949655" cy="400349"/>
          </a:xfrm>
        </p:grpSpPr>
        <p:sp>
          <p:nvSpPr>
            <p:cNvPr name="Freeform 40" id="40"/>
            <p:cNvSpPr/>
            <p:nvPr/>
          </p:nvSpPr>
          <p:spPr>
            <a:xfrm flipH="false" flipV="false" rot="0">
              <a:off x="0" y="0"/>
              <a:ext cx="949655" cy="400349"/>
            </a:xfrm>
            <a:custGeom>
              <a:avLst/>
              <a:gdLst/>
              <a:ahLst/>
              <a:cxnLst/>
              <a:rect r="r" b="b" t="t" l="l"/>
              <a:pathLst>
                <a:path h="400349" w="949655">
                  <a:moveTo>
                    <a:pt x="0" y="0"/>
                  </a:moveTo>
                  <a:lnTo>
                    <a:pt x="949655" y="0"/>
                  </a:lnTo>
                  <a:lnTo>
                    <a:pt x="949655" y="400349"/>
                  </a:lnTo>
                  <a:lnTo>
                    <a:pt x="0" y="400349"/>
                  </a:lnTo>
                  <a:close/>
                </a:path>
              </a:pathLst>
            </a:custGeom>
            <a:solidFill>
              <a:srgbClr val="D0F046"/>
            </a:solidFill>
          </p:spPr>
        </p:sp>
        <p:sp>
          <p:nvSpPr>
            <p:cNvPr name="TextBox 41" id="41"/>
            <p:cNvSpPr txBox="true"/>
            <p:nvPr/>
          </p:nvSpPr>
          <p:spPr>
            <a:xfrm>
              <a:off x="0" y="47625"/>
              <a:ext cx="949655" cy="352724"/>
            </a:xfrm>
            <a:prstGeom prst="rect">
              <a:avLst/>
            </a:prstGeom>
          </p:spPr>
          <p:txBody>
            <a:bodyPr anchor="ctr" rtlCol="false" tIns="50800" lIns="50800" bIns="50800" rIns="50800"/>
            <a:lstStyle/>
            <a:p>
              <a:pPr algn="ctr">
                <a:lnSpc>
                  <a:spcPts val="2199"/>
                </a:lnSpc>
              </a:pPr>
            </a:p>
          </p:txBody>
        </p:sp>
      </p:grpSp>
      <p:sp>
        <p:nvSpPr>
          <p:cNvPr name="TextBox 42" id="42"/>
          <p:cNvSpPr txBox="true"/>
          <p:nvPr/>
        </p:nvSpPr>
        <p:spPr>
          <a:xfrm rot="0">
            <a:off x="13185419" y="1251496"/>
            <a:ext cx="2786863" cy="1565753"/>
          </a:xfrm>
          <a:prstGeom prst="rect">
            <a:avLst/>
          </a:prstGeom>
        </p:spPr>
        <p:txBody>
          <a:bodyPr anchor="t" rtlCol="false" tIns="0" lIns="0" bIns="0" rIns="0">
            <a:spAutoFit/>
          </a:bodyPr>
          <a:lstStyle/>
          <a:p>
            <a:pPr algn="l">
              <a:lnSpc>
                <a:spcPts val="11766"/>
              </a:lnSpc>
            </a:pPr>
            <a:r>
              <a:rPr lang="en-US" sz="11766" b="true">
                <a:solidFill>
                  <a:srgbClr val="FFFFFF"/>
                </a:solidFill>
                <a:latin typeface="Garet Bold"/>
                <a:ea typeface="Garet Bold"/>
                <a:cs typeface="Garet Bold"/>
                <a:sym typeface="Garet Bold"/>
              </a:rPr>
              <a:t>FIT</a:t>
            </a:r>
          </a:p>
        </p:txBody>
      </p:sp>
      <p:sp>
        <p:nvSpPr>
          <p:cNvPr name="TextBox 43" id="43"/>
          <p:cNvSpPr txBox="true"/>
          <p:nvPr/>
        </p:nvSpPr>
        <p:spPr>
          <a:xfrm rot="0">
            <a:off x="8597966" y="9296400"/>
            <a:ext cx="7718819" cy="363133"/>
          </a:xfrm>
          <a:prstGeom prst="rect">
            <a:avLst/>
          </a:prstGeom>
        </p:spPr>
        <p:txBody>
          <a:bodyPr anchor="t" rtlCol="false" tIns="0" lIns="0" bIns="0" rIns="0">
            <a:spAutoFit/>
          </a:bodyPr>
          <a:lstStyle/>
          <a:p>
            <a:pPr algn="l" marL="0" indent="0" lvl="0">
              <a:lnSpc>
                <a:spcPts val="2632"/>
              </a:lnSpc>
            </a:pPr>
            <a:r>
              <a:rPr lang="en-US" b="true" sz="2632">
                <a:solidFill>
                  <a:srgbClr val="060606"/>
                </a:solidFill>
                <a:latin typeface="Roboto Bold"/>
                <a:ea typeface="Roboto Bold"/>
                <a:cs typeface="Roboto Bold"/>
                <a:sym typeface="Roboto Bold"/>
              </a:rPr>
              <a:t>Réalisé par : Mehdi Lakhial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0F046"/>
        </a:solidFill>
      </p:bgPr>
    </p:bg>
    <p:spTree>
      <p:nvGrpSpPr>
        <p:cNvPr id="1" name=""/>
        <p:cNvGrpSpPr/>
        <p:nvPr/>
      </p:nvGrpSpPr>
      <p:grpSpPr>
        <a:xfrm>
          <a:off x="0" y="0"/>
          <a:ext cx="0" cy="0"/>
          <a:chOff x="0" y="0"/>
          <a:chExt cx="0" cy="0"/>
        </a:xfrm>
      </p:grpSpPr>
      <p:grpSp>
        <p:nvGrpSpPr>
          <p:cNvPr name="Group 2" id="2"/>
          <p:cNvGrpSpPr/>
          <p:nvPr/>
        </p:nvGrpSpPr>
        <p:grpSpPr>
          <a:xfrm rot="0">
            <a:off x="1476905" y="519587"/>
            <a:ext cx="15334190" cy="9007894"/>
            <a:chOff x="0" y="0"/>
            <a:chExt cx="4038634" cy="2372449"/>
          </a:xfrm>
        </p:grpSpPr>
        <p:sp>
          <p:nvSpPr>
            <p:cNvPr name="Freeform 3" id="3"/>
            <p:cNvSpPr/>
            <p:nvPr/>
          </p:nvSpPr>
          <p:spPr>
            <a:xfrm flipH="false" flipV="false" rot="0">
              <a:off x="0" y="0"/>
              <a:ext cx="4038634" cy="2372450"/>
            </a:xfrm>
            <a:custGeom>
              <a:avLst/>
              <a:gdLst/>
              <a:ahLst/>
              <a:cxnLst/>
              <a:rect r="r" b="b" t="t" l="l"/>
              <a:pathLst>
                <a:path h="2372450" w="4038634">
                  <a:moveTo>
                    <a:pt x="25749" y="0"/>
                  </a:moveTo>
                  <a:lnTo>
                    <a:pt x="4012886" y="0"/>
                  </a:lnTo>
                  <a:cubicBezTo>
                    <a:pt x="4027107" y="0"/>
                    <a:pt x="4038634" y="11528"/>
                    <a:pt x="4038634" y="25749"/>
                  </a:cubicBezTo>
                  <a:lnTo>
                    <a:pt x="4038634" y="2346701"/>
                  </a:lnTo>
                  <a:cubicBezTo>
                    <a:pt x="4038634" y="2360921"/>
                    <a:pt x="4027107" y="2372450"/>
                    <a:pt x="4012886" y="2372450"/>
                  </a:cubicBezTo>
                  <a:lnTo>
                    <a:pt x="25749" y="2372450"/>
                  </a:lnTo>
                  <a:cubicBezTo>
                    <a:pt x="18920" y="2372450"/>
                    <a:pt x="12371" y="2369737"/>
                    <a:pt x="7542" y="2364908"/>
                  </a:cubicBezTo>
                  <a:cubicBezTo>
                    <a:pt x="2713" y="2360079"/>
                    <a:pt x="0" y="2353530"/>
                    <a:pt x="0" y="2346701"/>
                  </a:cubicBezTo>
                  <a:lnTo>
                    <a:pt x="0" y="25749"/>
                  </a:lnTo>
                  <a:cubicBezTo>
                    <a:pt x="0" y="11528"/>
                    <a:pt x="11528" y="0"/>
                    <a:pt x="25749" y="0"/>
                  </a:cubicBezTo>
                  <a:close/>
                </a:path>
              </a:pathLst>
            </a:custGeom>
            <a:solidFill>
              <a:srgbClr val="F3F3F3"/>
            </a:solidFill>
          </p:spPr>
        </p:sp>
        <p:sp>
          <p:nvSpPr>
            <p:cNvPr name="TextBox 4" id="4"/>
            <p:cNvSpPr txBox="true"/>
            <p:nvPr/>
          </p:nvSpPr>
          <p:spPr>
            <a:xfrm>
              <a:off x="0" y="-47625"/>
              <a:ext cx="4038634" cy="2420074"/>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2749590" y="1102555"/>
            <a:ext cx="5493582" cy="1068070"/>
          </a:xfrm>
          <a:prstGeom prst="rect">
            <a:avLst/>
          </a:prstGeom>
        </p:spPr>
        <p:txBody>
          <a:bodyPr anchor="t" rtlCol="false" tIns="0" lIns="0" bIns="0" rIns="0">
            <a:spAutoFit/>
          </a:bodyPr>
          <a:lstStyle/>
          <a:p>
            <a:pPr algn="l">
              <a:lnSpc>
                <a:spcPts val="6800"/>
              </a:lnSpc>
            </a:pPr>
            <a:r>
              <a:rPr lang="en-US" sz="6800" spc="-374">
                <a:solidFill>
                  <a:srgbClr val="000000"/>
                </a:solidFill>
                <a:latin typeface="Heading Now 71-78"/>
                <a:ea typeface="Heading Now 71-78"/>
                <a:cs typeface="Heading Now 71-78"/>
                <a:sym typeface="Heading Now 71-78"/>
              </a:rPr>
              <a:t>Plan </a:t>
            </a:r>
          </a:p>
        </p:txBody>
      </p:sp>
      <p:sp>
        <p:nvSpPr>
          <p:cNvPr name="TextBox 6" id="6"/>
          <p:cNvSpPr txBox="true"/>
          <p:nvPr/>
        </p:nvSpPr>
        <p:spPr>
          <a:xfrm rot="0">
            <a:off x="3380145" y="3194883"/>
            <a:ext cx="3159762" cy="349217"/>
          </a:xfrm>
          <a:prstGeom prst="rect">
            <a:avLst/>
          </a:prstGeom>
        </p:spPr>
        <p:txBody>
          <a:bodyPr anchor="t" rtlCol="false" tIns="0" lIns="0" bIns="0" rIns="0">
            <a:spAutoFit/>
          </a:bodyPr>
          <a:lstStyle/>
          <a:p>
            <a:pPr algn="l">
              <a:lnSpc>
                <a:spcPts val="2800"/>
              </a:lnSpc>
            </a:pPr>
            <a:r>
              <a:rPr lang="en-US" b="true" sz="2000">
                <a:solidFill>
                  <a:srgbClr val="000000"/>
                </a:solidFill>
                <a:latin typeface="TT Firs Neue Bold"/>
                <a:ea typeface="TT Firs Neue Bold"/>
                <a:cs typeface="TT Firs Neue Bold"/>
                <a:sym typeface="TT Firs Neue Bold"/>
              </a:rPr>
              <a:t>INTRODUCTION</a:t>
            </a:r>
          </a:p>
        </p:txBody>
      </p:sp>
      <p:sp>
        <p:nvSpPr>
          <p:cNvPr name="TextBox 7" id="7"/>
          <p:cNvSpPr txBox="true"/>
          <p:nvPr/>
        </p:nvSpPr>
        <p:spPr>
          <a:xfrm rot="0">
            <a:off x="3380145" y="4945079"/>
            <a:ext cx="5388391" cy="349217"/>
          </a:xfrm>
          <a:prstGeom prst="rect">
            <a:avLst/>
          </a:prstGeom>
        </p:spPr>
        <p:txBody>
          <a:bodyPr anchor="t" rtlCol="false" tIns="0" lIns="0" bIns="0" rIns="0">
            <a:spAutoFit/>
          </a:bodyPr>
          <a:lstStyle/>
          <a:p>
            <a:pPr algn="l">
              <a:lnSpc>
                <a:spcPts val="2800"/>
              </a:lnSpc>
            </a:pPr>
            <a:r>
              <a:rPr lang="en-US" b="true" sz="2000">
                <a:solidFill>
                  <a:srgbClr val="000000"/>
                </a:solidFill>
                <a:latin typeface="TT Firs Neue Bold"/>
                <a:ea typeface="TT Firs Neue Bold"/>
                <a:cs typeface="TT Firs Neue Bold"/>
                <a:sym typeface="TT Firs Neue Bold"/>
              </a:rPr>
              <a:t>PROBLÉMATIQUE &amp; OBJECTIFS</a:t>
            </a:r>
          </a:p>
        </p:txBody>
      </p:sp>
      <p:sp>
        <p:nvSpPr>
          <p:cNvPr name="TextBox 8" id="8"/>
          <p:cNvSpPr txBox="true"/>
          <p:nvPr/>
        </p:nvSpPr>
        <p:spPr>
          <a:xfrm rot="0">
            <a:off x="3380145" y="6519046"/>
            <a:ext cx="5388391" cy="701609"/>
          </a:xfrm>
          <a:prstGeom prst="rect">
            <a:avLst/>
          </a:prstGeom>
        </p:spPr>
        <p:txBody>
          <a:bodyPr anchor="t" rtlCol="false" tIns="0" lIns="0" bIns="0" rIns="0">
            <a:spAutoFit/>
          </a:bodyPr>
          <a:lstStyle/>
          <a:p>
            <a:pPr algn="l">
              <a:lnSpc>
                <a:spcPts val="2800"/>
              </a:lnSpc>
            </a:pPr>
            <a:r>
              <a:rPr lang="en-US" b="true" sz="2000">
                <a:solidFill>
                  <a:srgbClr val="000000"/>
                </a:solidFill>
                <a:latin typeface="TT Firs Neue Bold"/>
                <a:ea typeface="TT Firs Neue Bold"/>
                <a:cs typeface="TT Firs Neue Bold"/>
                <a:sym typeface="TT Firs Neue Bold"/>
              </a:rPr>
              <a:t>ARCHITECTURE &amp; STACK TECHNOLOGIQUE</a:t>
            </a:r>
          </a:p>
        </p:txBody>
      </p:sp>
      <p:grpSp>
        <p:nvGrpSpPr>
          <p:cNvPr name="Group 9" id="9"/>
          <p:cNvGrpSpPr/>
          <p:nvPr/>
        </p:nvGrpSpPr>
        <p:grpSpPr>
          <a:xfrm rot="0">
            <a:off x="2338948" y="2982663"/>
            <a:ext cx="821282" cy="82128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1" id="11"/>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grpSp>
        <p:nvGrpSpPr>
          <p:cNvPr name="Group 12" id="12"/>
          <p:cNvGrpSpPr/>
          <p:nvPr/>
        </p:nvGrpSpPr>
        <p:grpSpPr>
          <a:xfrm rot="0">
            <a:off x="2338948" y="4733630"/>
            <a:ext cx="821282" cy="82128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4" id="14"/>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grpSp>
        <p:nvGrpSpPr>
          <p:cNvPr name="Group 15" id="15"/>
          <p:cNvGrpSpPr/>
          <p:nvPr/>
        </p:nvGrpSpPr>
        <p:grpSpPr>
          <a:xfrm rot="0">
            <a:off x="2338948" y="6483055"/>
            <a:ext cx="821282" cy="82128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7" id="17"/>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grpSp>
        <p:nvGrpSpPr>
          <p:cNvPr name="Group 18" id="18"/>
          <p:cNvGrpSpPr/>
          <p:nvPr/>
        </p:nvGrpSpPr>
        <p:grpSpPr>
          <a:xfrm rot="0">
            <a:off x="-1366486" y="-1279342"/>
            <a:ext cx="3086100" cy="30861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11F"/>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21" id="21"/>
          <p:cNvSpPr/>
          <p:nvPr/>
        </p:nvSpPr>
        <p:spPr>
          <a:xfrm flipH="false" flipV="false" rot="0">
            <a:off x="16469412" y="8774765"/>
            <a:ext cx="2128220" cy="2120481"/>
          </a:xfrm>
          <a:custGeom>
            <a:avLst/>
            <a:gdLst/>
            <a:ahLst/>
            <a:cxnLst/>
            <a:rect r="r" b="b" t="t" l="l"/>
            <a:pathLst>
              <a:path h="2120481" w="2128220">
                <a:moveTo>
                  <a:pt x="0" y="0"/>
                </a:moveTo>
                <a:lnTo>
                  <a:pt x="2128220" y="0"/>
                </a:lnTo>
                <a:lnTo>
                  <a:pt x="2128220" y="2120482"/>
                </a:lnTo>
                <a:lnTo>
                  <a:pt x="0" y="2120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2" id="22"/>
          <p:cNvGrpSpPr/>
          <p:nvPr/>
        </p:nvGrpSpPr>
        <p:grpSpPr>
          <a:xfrm rot="0">
            <a:off x="15466153" y="916745"/>
            <a:ext cx="1003259" cy="223911"/>
            <a:chOff x="0" y="0"/>
            <a:chExt cx="1337678" cy="298548"/>
          </a:xfrm>
        </p:grpSpPr>
        <p:grpSp>
          <p:nvGrpSpPr>
            <p:cNvPr name="Group 23" id="23"/>
            <p:cNvGrpSpPr/>
            <p:nvPr/>
          </p:nvGrpSpPr>
          <p:grpSpPr>
            <a:xfrm rot="0">
              <a:off x="0" y="0"/>
              <a:ext cx="298548" cy="29854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11F"/>
              </a:solidFill>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26" id="26"/>
            <p:cNvGrpSpPr/>
            <p:nvPr/>
          </p:nvGrpSpPr>
          <p:grpSpPr>
            <a:xfrm rot="0">
              <a:off x="519565" y="0"/>
              <a:ext cx="298548" cy="29854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11F"/>
              </a:solidFill>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29" id="29"/>
            <p:cNvGrpSpPr/>
            <p:nvPr/>
          </p:nvGrpSpPr>
          <p:grpSpPr>
            <a:xfrm rot="0">
              <a:off x="1039130" y="0"/>
              <a:ext cx="298548" cy="29854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11F"/>
              </a:solidFill>
            </p:spPr>
          </p:sp>
          <p:sp>
            <p:nvSpPr>
              <p:cNvPr name="TextBox 31" id="3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grpSp>
        <p:nvGrpSpPr>
          <p:cNvPr name="Group 32" id="32"/>
          <p:cNvGrpSpPr/>
          <p:nvPr/>
        </p:nvGrpSpPr>
        <p:grpSpPr>
          <a:xfrm rot="0">
            <a:off x="1476905" y="9835006"/>
            <a:ext cx="1003259" cy="223911"/>
            <a:chOff x="0" y="0"/>
            <a:chExt cx="1337678" cy="298548"/>
          </a:xfrm>
        </p:grpSpPr>
        <p:grpSp>
          <p:nvGrpSpPr>
            <p:cNvPr name="Group 33" id="33"/>
            <p:cNvGrpSpPr/>
            <p:nvPr/>
          </p:nvGrpSpPr>
          <p:grpSpPr>
            <a:xfrm rot="0">
              <a:off x="0" y="0"/>
              <a:ext cx="298548" cy="298548"/>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11F"/>
              </a:solidFill>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36" id="36"/>
            <p:cNvGrpSpPr/>
            <p:nvPr/>
          </p:nvGrpSpPr>
          <p:grpSpPr>
            <a:xfrm rot="0">
              <a:off x="519565" y="0"/>
              <a:ext cx="298548" cy="298548"/>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11F"/>
              </a:solidFill>
            </p:spPr>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39" id="39"/>
            <p:cNvGrpSpPr/>
            <p:nvPr/>
          </p:nvGrpSpPr>
          <p:grpSpPr>
            <a:xfrm rot="0">
              <a:off x="1039130" y="0"/>
              <a:ext cx="298548" cy="2985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11F"/>
              </a:solidFill>
            </p:spPr>
          </p:sp>
          <p:sp>
            <p:nvSpPr>
              <p:cNvPr name="TextBox 41" id="4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grpSp>
        <p:nvGrpSpPr>
          <p:cNvPr name="Group 42" id="42"/>
          <p:cNvGrpSpPr/>
          <p:nvPr/>
        </p:nvGrpSpPr>
        <p:grpSpPr>
          <a:xfrm rot="0">
            <a:off x="9251031" y="2982663"/>
            <a:ext cx="821282" cy="821282"/>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44" id="44"/>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grpSp>
        <p:nvGrpSpPr>
          <p:cNvPr name="Group 45" id="45"/>
          <p:cNvGrpSpPr/>
          <p:nvPr/>
        </p:nvGrpSpPr>
        <p:grpSpPr>
          <a:xfrm rot="0">
            <a:off x="9251031" y="4733630"/>
            <a:ext cx="821282" cy="821282"/>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47" id="47"/>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grpSp>
        <p:nvGrpSpPr>
          <p:cNvPr name="Group 48" id="48"/>
          <p:cNvGrpSpPr/>
          <p:nvPr/>
        </p:nvGrpSpPr>
        <p:grpSpPr>
          <a:xfrm rot="0">
            <a:off x="9251031" y="6483055"/>
            <a:ext cx="821282" cy="821282"/>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50" id="50"/>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sp>
        <p:nvSpPr>
          <p:cNvPr name="TextBox 51" id="51"/>
          <p:cNvSpPr txBox="true"/>
          <p:nvPr/>
        </p:nvSpPr>
        <p:spPr>
          <a:xfrm rot="0">
            <a:off x="2530507" y="3133604"/>
            <a:ext cx="438166" cy="500349"/>
          </a:xfrm>
          <a:prstGeom prst="rect">
            <a:avLst/>
          </a:prstGeom>
        </p:spPr>
        <p:txBody>
          <a:bodyPr anchor="t" rtlCol="false" tIns="0" lIns="0" bIns="0" rIns="0">
            <a:spAutoFit/>
          </a:bodyPr>
          <a:lstStyle/>
          <a:p>
            <a:pPr algn="ctr">
              <a:lnSpc>
                <a:spcPts val="3200"/>
              </a:lnSpc>
            </a:pPr>
            <a:r>
              <a:rPr lang="en-US" sz="3200" spc="-176">
                <a:solidFill>
                  <a:srgbClr val="000000"/>
                </a:solidFill>
                <a:latin typeface="Heading Now 71-78"/>
                <a:ea typeface="Heading Now 71-78"/>
                <a:cs typeface="Heading Now 71-78"/>
                <a:sym typeface="Heading Now 71-78"/>
              </a:rPr>
              <a:t>1</a:t>
            </a:r>
          </a:p>
        </p:txBody>
      </p:sp>
      <p:sp>
        <p:nvSpPr>
          <p:cNvPr name="TextBox 52" id="52"/>
          <p:cNvSpPr txBox="true"/>
          <p:nvPr/>
        </p:nvSpPr>
        <p:spPr>
          <a:xfrm rot="0">
            <a:off x="2530507" y="4884572"/>
            <a:ext cx="438166" cy="500349"/>
          </a:xfrm>
          <a:prstGeom prst="rect">
            <a:avLst/>
          </a:prstGeom>
        </p:spPr>
        <p:txBody>
          <a:bodyPr anchor="t" rtlCol="false" tIns="0" lIns="0" bIns="0" rIns="0">
            <a:spAutoFit/>
          </a:bodyPr>
          <a:lstStyle/>
          <a:p>
            <a:pPr algn="ctr">
              <a:lnSpc>
                <a:spcPts val="3200"/>
              </a:lnSpc>
            </a:pPr>
            <a:r>
              <a:rPr lang="en-US" sz="3200" spc="-176">
                <a:solidFill>
                  <a:srgbClr val="000000"/>
                </a:solidFill>
                <a:latin typeface="Heading Now 71-78"/>
                <a:ea typeface="Heading Now 71-78"/>
                <a:cs typeface="Heading Now 71-78"/>
                <a:sym typeface="Heading Now 71-78"/>
              </a:rPr>
              <a:t>2</a:t>
            </a:r>
          </a:p>
        </p:txBody>
      </p:sp>
      <p:sp>
        <p:nvSpPr>
          <p:cNvPr name="TextBox 53" id="53"/>
          <p:cNvSpPr txBox="true"/>
          <p:nvPr/>
        </p:nvSpPr>
        <p:spPr>
          <a:xfrm rot="0">
            <a:off x="2530507" y="6633997"/>
            <a:ext cx="438166" cy="500349"/>
          </a:xfrm>
          <a:prstGeom prst="rect">
            <a:avLst/>
          </a:prstGeom>
        </p:spPr>
        <p:txBody>
          <a:bodyPr anchor="t" rtlCol="false" tIns="0" lIns="0" bIns="0" rIns="0">
            <a:spAutoFit/>
          </a:bodyPr>
          <a:lstStyle/>
          <a:p>
            <a:pPr algn="ctr">
              <a:lnSpc>
                <a:spcPts val="3200"/>
              </a:lnSpc>
            </a:pPr>
            <a:r>
              <a:rPr lang="en-US" sz="3200" spc="-176">
                <a:solidFill>
                  <a:srgbClr val="000000"/>
                </a:solidFill>
                <a:latin typeface="Heading Now 71-78"/>
                <a:ea typeface="Heading Now 71-78"/>
                <a:cs typeface="Heading Now 71-78"/>
                <a:sym typeface="Heading Now 71-78"/>
              </a:rPr>
              <a:t>3</a:t>
            </a:r>
          </a:p>
        </p:txBody>
      </p:sp>
      <p:sp>
        <p:nvSpPr>
          <p:cNvPr name="TextBox 54" id="54"/>
          <p:cNvSpPr txBox="true"/>
          <p:nvPr/>
        </p:nvSpPr>
        <p:spPr>
          <a:xfrm rot="0">
            <a:off x="9442589" y="3133604"/>
            <a:ext cx="438166" cy="500349"/>
          </a:xfrm>
          <a:prstGeom prst="rect">
            <a:avLst/>
          </a:prstGeom>
        </p:spPr>
        <p:txBody>
          <a:bodyPr anchor="t" rtlCol="false" tIns="0" lIns="0" bIns="0" rIns="0">
            <a:spAutoFit/>
          </a:bodyPr>
          <a:lstStyle/>
          <a:p>
            <a:pPr algn="ctr">
              <a:lnSpc>
                <a:spcPts val="3200"/>
              </a:lnSpc>
            </a:pPr>
            <a:r>
              <a:rPr lang="en-US" sz="3200" spc="-176">
                <a:solidFill>
                  <a:srgbClr val="000000"/>
                </a:solidFill>
                <a:latin typeface="Heading Now 71-78"/>
                <a:ea typeface="Heading Now 71-78"/>
                <a:cs typeface="Heading Now 71-78"/>
                <a:sym typeface="Heading Now 71-78"/>
              </a:rPr>
              <a:t>4</a:t>
            </a:r>
          </a:p>
        </p:txBody>
      </p:sp>
      <p:sp>
        <p:nvSpPr>
          <p:cNvPr name="TextBox 55" id="55"/>
          <p:cNvSpPr txBox="true"/>
          <p:nvPr/>
        </p:nvSpPr>
        <p:spPr>
          <a:xfrm rot="0">
            <a:off x="9442589" y="4918805"/>
            <a:ext cx="438166" cy="500349"/>
          </a:xfrm>
          <a:prstGeom prst="rect">
            <a:avLst/>
          </a:prstGeom>
        </p:spPr>
        <p:txBody>
          <a:bodyPr anchor="t" rtlCol="false" tIns="0" lIns="0" bIns="0" rIns="0">
            <a:spAutoFit/>
          </a:bodyPr>
          <a:lstStyle/>
          <a:p>
            <a:pPr algn="ctr">
              <a:lnSpc>
                <a:spcPts val="3200"/>
              </a:lnSpc>
            </a:pPr>
            <a:r>
              <a:rPr lang="en-US" sz="3200" spc="-176">
                <a:solidFill>
                  <a:srgbClr val="000000"/>
                </a:solidFill>
                <a:latin typeface="Heading Now 71-78"/>
                <a:ea typeface="Heading Now 71-78"/>
                <a:cs typeface="Heading Now 71-78"/>
                <a:sym typeface="Heading Now 71-78"/>
              </a:rPr>
              <a:t>5</a:t>
            </a:r>
          </a:p>
        </p:txBody>
      </p:sp>
      <p:sp>
        <p:nvSpPr>
          <p:cNvPr name="TextBox 56" id="56"/>
          <p:cNvSpPr txBox="true"/>
          <p:nvPr/>
        </p:nvSpPr>
        <p:spPr>
          <a:xfrm rot="0">
            <a:off x="9442589" y="6704006"/>
            <a:ext cx="438166" cy="500349"/>
          </a:xfrm>
          <a:prstGeom prst="rect">
            <a:avLst/>
          </a:prstGeom>
        </p:spPr>
        <p:txBody>
          <a:bodyPr anchor="t" rtlCol="false" tIns="0" lIns="0" bIns="0" rIns="0">
            <a:spAutoFit/>
          </a:bodyPr>
          <a:lstStyle/>
          <a:p>
            <a:pPr algn="ctr">
              <a:lnSpc>
                <a:spcPts val="3200"/>
              </a:lnSpc>
            </a:pPr>
            <a:r>
              <a:rPr lang="en-US" sz="3200" spc="-176">
                <a:solidFill>
                  <a:srgbClr val="000000"/>
                </a:solidFill>
                <a:latin typeface="Heading Now 71-78"/>
                <a:ea typeface="Heading Now 71-78"/>
                <a:cs typeface="Heading Now 71-78"/>
                <a:sym typeface="Heading Now 71-78"/>
              </a:rPr>
              <a:t>6</a:t>
            </a:r>
          </a:p>
        </p:txBody>
      </p:sp>
      <p:sp>
        <p:nvSpPr>
          <p:cNvPr name="TextBox 57" id="57"/>
          <p:cNvSpPr txBox="true"/>
          <p:nvPr/>
        </p:nvSpPr>
        <p:spPr>
          <a:xfrm rot="0">
            <a:off x="10291388" y="3194883"/>
            <a:ext cx="3159762" cy="349217"/>
          </a:xfrm>
          <a:prstGeom prst="rect">
            <a:avLst/>
          </a:prstGeom>
        </p:spPr>
        <p:txBody>
          <a:bodyPr anchor="t" rtlCol="false" tIns="0" lIns="0" bIns="0" rIns="0">
            <a:spAutoFit/>
          </a:bodyPr>
          <a:lstStyle/>
          <a:p>
            <a:pPr algn="l">
              <a:lnSpc>
                <a:spcPts val="2800"/>
              </a:lnSpc>
            </a:pPr>
            <a:r>
              <a:rPr lang="en-US" b="true" sz="2000">
                <a:solidFill>
                  <a:srgbClr val="000000"/>
                </a:solidFill>
                <a:latin typeface="TT Firs Neue Bold"/>
                <a:ea typeface="TT Firs Neue Bold"/>
                <a:cs typeface="TT Firs Neue Bold"/>
                <a:sym typeface="TT Firs Neue Bold"/>
              </a:rPr>
              <a:t>APPROCHE RAG</a:t>
            </a:r>
          </a:p>
        </p:txBody>
      </p:sp>
      <p:sp>
        <p:nvSpPr>
          <p:cNvPr name="TextBox 58" id="58"/>
          <p:cNvSpPr txBox="true"/>
          <p:nvPr/>
        </p:nvSpPr>
        <p:spPr>
          <a:xfrm rot="0">
            <a:off x="10380783" y="4945850"/>
            <a:ext cx="3159762" cy="349217"/>
          </a:xfrm>
          <a:prstGeom prst="rect">
            <a:avLst/>
          </a:prstGeom>
        </p:spPr>
        <p:txBody>
          <a:bodyPr anchor="t" rtlCol="false" tIns="0" lIns="0" bIns="0" rIns="0">
            <a:spAutoFit/>
          </a:bodyPr>
          <a:lstStyle/>
          <a:p>
            <a:pPr algn="l">
              <a:lnSpc>
                <a:spcPts val="2800"/>
              </a:lnSpc>
            </a:pPr>
            <a:r>
              <a:rPr lang="en-US" b="true" sz="2000">
                <a:solidFill>
                  <a:srgbClr val="000000"/>
                </a:solidFill>
                <a:latin typeface="TT Firs Neue Bold"/>
                <a:ea typeface="TT Firs Neue Bold"/>
                <a:cs typeface="TT Firs Neue Bold"/>
                <a:sym typeface="TT Firs Neue Bold"/>
              </a:rPr>
              <a:t>INTERFACE UI</a:t>
            </a:r>
          </a:p>
        </p:txBody>
      </p:sp>
      <p:sp>
        <p:nvSpPr>
          <p:cNvPr name="TextBox 59" id="59"/>
          <p:cNvSpPr txBox="true"/>
          <p:nvPr/>
        </p:nvSpPr>
        <p:spPr>
          <a:xfrm rot="0">
            <a:off x="10291388" y="6765285"/>
            <a:ext cx="3750128" cy="349217"/>
          </a:xfrm>
          <a:prstGeom prst="rect">
            <a:avLst/>
          </a:prstGeom>
        </p:spPr>
        <p:txBody>
          <a:bodyPr anchor="t" rtlCol="false" tIns="0" lIns="0" bIns="0" rIns="0">
            <a:spAutoFit/>
          </a:bodyPr>
          <a:lstStyle/>
          <a:p>
            <a:pPr algn="l">
              <a:lnSpc>
                <a:spcPts val="2800"/>
              </a:lnSpc>
            </a:pPr>
            <a:r>
              <a:rPr lang="en-US" b="true" sz="2000">
                <a:solidFill>
                  <a:srgbClr val="000000"/>
                </a:solidFill>
                <a:latin typeface="TT Firs Neue Bold"/>
                <a:ea typeface="TT Firs Neue Bold"/>
                <a:cs typeface="TT Firs Neue Bold"/>
                <a:sym typeface="TT Firs Neue Bold"/>
              </a:rPr>
              <a:t>OBJECTIFS SUPPORTÉS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sp>
        <p:nvSpPr>
          <p:cNvPr name="AutoShape 2" id="2"/>
          <p:cNvSpPr/>
          <p:nvPr/>
        </p:nvSpPr>
        <p:spPr>
          <a:xfrm flipH="true" flipV="true">
            <a:off x="9146359" y="61953"/>
            <a:ext cx="0" cy="10287000"/>
          </a:xfrm>
          <a:prstGeom prst="line">
            <a:avLst/>
          </a:prstGeom>
          <a:ln cap="flat" w="38100">
            <a:solidFill>
              <a:srgbClr val="57595F">
                <a:alpha val="9804"/>
              </a:srgbClr>
            </a:solidFill>
            <a:prstDash val="solid"/>
            <a:headEnd type="none" len="sm" w="sm"/>
            <a:tailEnd type="none" len="sm" w="sm"/>
          </a:ln>
        </p:spPr>
      </p:sp>
      <p:sp>
        <p:nvSpPr>
          <p:cNvPr name="AutoShape 3" id="3"/>
          <p:cNvSpPr/>
          <p:nvPr/>
        </p:nvSpPr>
        <p:spPr>
          <a:xfrm flipV="true">
            <a:off x="11703866" y="0"/>
            <a:ext cx="0" cy="10348953"/>
          </a:xfrm>
          <a:prstGeom prst="line">
            <a:avLst/>
          </a:prstGeom>
          <a:ln cap="flat" w="38100">
            <a:solidFill>
              <a:srgbClr val="57595F">
                <a:alpha val="9804"/>
              </a:srgbClr>
            </a:solidFill>
            <a:prstDash val="solid"/>
            <a:headEnd type="none" len="sm" w="sm"/>
            <a:tailEnd type="none" len="sm" w="sm"/>
          </a:ln>
        </p:spPr>
      </p:sp>
      <p:sp>
        <p:nvSpPr>
          <p:cNvPr name="AutoShape 4" id="4"/>
          <p:cNvSpPr/>
          <p:nvPr/>
        </p:nvSpPr>
        <p:spPr>
          <a:xfrm flipV="true">
            <a:off x="14261372" y="-61953"/>
            <a:ext cx="0" cy="10410906"/>
          </a:xfrm>
          <a:prstGeom prst="line">
            <a:avLst/>
          </a:prstGeom>
          <a:ln cap="flat" w="38100">
            <a:solidFill>
              <a:srgbClr val="57595F">
                <a:alpha val="9804"/>
              </a:srgbClr>
            </a:solidFill>
            <a:prstDash val="solid"/>
            <a:headEnd type="none" len="sm" w="sm"/>
            <a:tailEnd type="none" len="sm" w="sm"/>
          </a:ln>
        </p:spPr>
      </p:sp>
      <p:sp>
        <p:nvSpPr>
          <p:cNvPr name="AutoShape 5" id="5"/>
          <p:cNvSpPr/>
          <p:nvPr/>
        </p:nvSpPr>
        <p:spPr>
          <a:xfrm flipV="true">
            <a:off x="16818879" y="-123906"/>
            <a:ext cx="0" cy="10472859"/>
          </a:xfrm>
          <a:prstGeom prst="line">
            <a:avLst/>
          </a:prstGeom>
          <a:ln cap="flat" w="38100">
            <a:solidFill>
              <a:srgbClr val="57595F">
                <a:alpha val="9804"/>
              </a:srgbClr>
            </a:solidFill>
            <a:prstDash val="solid"/>
            <a:headEnd type="none" len="sm" w="sm"/>
            <a:tailEnd type="none" len="sm" w="sm"/>
          </a:ln>
        </p:spPr>
      </p:sp>
      <p:sp>
        <p:nvSpPr>
          <p:cNvPr name="AutoShape 6" id="6"/>
          <p:cNvSpPr/>
          <p:nvPr/>
        </p:nvSpPr>
        <p:spPr>
          <a:xfrm flipH="true" flipV="true">
            <a:off x="1469121" y="0"/>
            <a:ext cx="0" cy="10287000"/>
          </a:xfrm>
          <a:prstGeom prst="line">
            <a:avLst/>
          </a:prstGeom>
          <a:ln cap="flat" w="38100">
            <a:solidFill>
              <a:srgbClr val="57595F">
                <a:alpha val="9804"/>
              </a:srgbClr>
            </a:solidFill>
            <a:prstDash val="solid"/>
            <a:headEnd type="none" len="sm" w="sm"/>
            <a:tailEnd type="none" len="sm" w="sm"/>
          </a:ln>
        </p:spPr>
      </p:sp>
      <p:sp>
        <p:nvSpPr>
          <p:cNvPr name="AutoShape 7" id="7"/>
          <p:cNvSpPr/>
          <p:nvPr/>
        </p:nvSpPr>
        <p:spPr>
          <a:xfrm flipV="true">
            <a:off x="4026628" y="-61953"/>
            <a:ext cx="0" cy="10348953"/>
          </a:xfrm>
          <a:prstGeom prst="line">
            <a:avLst/>
          </a:prstGeom>
          <a:ln cap="flat" w="38100">
            <a:solidFill>
              <a:srgbClr val="57595F">
                <a:alpha val="9804"/>
              </a:srgbClr>
            </a:solidFill>
            <a:prstDash val="solid"/>
            <a:headEnd type="none" len="sm" w="sm"/>
            <a:tailEnd type="none" len="sm" w="sm"/>
          </a:ln>
        </p:spPr>
      </p:sp>
      <p:sp>
        <p:nvSpPr>
          <p:cNvPr name="AutoShape 8" id="8"/>
          <p:cNvSpPr/>
          <p:nvPr/>
        </p:nvSpPr>
        <p:spPr>
          <a:xfrm flipV="true">
            <a:off x="6584134" y="-123906"/>
            <a:ext cx="0" cy="10410906"/>
          </a:xfrm>
          <a:prstGeom prst="line">
            <a:avLst/>
          </a:prstGeom>
          <a:ln cap="flat" w="38100">
            <a:solidFill>
              <a:srgbClr val="57595F">
                <a:alpha val="9804"/>
              </a:srgbClr>
            </a:solidFill>
            <a:prstDash val="solid"/>
            <a:headEnd type="none" len="sm" w="sm"/>
            <a:tailEnd type="none" len="sm" w="sm"/>
          </a:ln>
        </p:spPr>
      </p:sp>
      <p:grpSp>
        <p:nvGrpSpPr>
          <p:cNvPr name="Group 9" id="9"/>
          <p:cNvGrpSpPr/>
          <p:nvPr/>
        </p:nvGrpSpPr>
        <p:grpSpPr>
          <a:xfrm rot="0">
            <a:off x="1469121" y="7800309"/>
            <a:ext cx="1132370" cy="1132370"/>
            <a:chOff x="0" y="0"/>
            <a:chExt cx="298237" cy="298237"/>
          </a:xfrm>
        </p:grpSpPr>
        <p:sp>
          <p:nvSpPr>
            <p:cNvPr name="Freeform 10" id="10"/>
            <p:cNvSpPr/>
            <p:nvPr/>
          </p:nvSpPr>
          <p:spPr>
            <a:xfrm flipH="false" flipV="false" rot="0">
              <a:off x="0" y="0"/>
              <a:ext cx="298237" cy="298237"/>
            </a:xfrm>
            <a:custGeom>
              <a:avLst/>
              <a:gdLst/>
              <a:ahLst/>
              <a:cxnLst/>
              <a:rect r="r" b="b" t="t" l="l"/>
              <a:pathLst>
                <a:path h="298237" w="298237">
                  <a:moveTo>
                    <a:pt x="149119" y="0"/>
                  </a:moveTo>
                  <a:lnTo>
                    <a:pt x="149119" y="0"/>
                  </a:lnTo>
                  <a:cubicBezTo>
                    <a:pt x="231475" y="0"/>
                    <a:pt x="298237" y="66763"/>
                    <a:pt x="298237" y="149119"/>
                  </a:cubicBezTo>
                  <a:lnTo>
                    <a:pt x="298237" y="149119"/>
                  </a:lnTo>
                  <a:cubicBezTo>
                    <a:pt x="298237" y="231475"/>
                    <a:pt x="231475" y="298237"/>
                    <a:pt x="149119" y="298237"/>
                  </a:cubicBezTo>
                  <a:lnTo>
                    <a:pt x="149119" y="298237"/>
                  </a:lnTo>
                  <a:cubicBezTo>
                    <a:pt x="66763" y="298237"/>
                    <a:pt x="0" y="231475"/>
                    <a:pt x="0" y="149119"/>
                  </a:cubicBezTo>
                  <a:lnTo>
                    <a:pt x="0" y="149119"/>
                  </a:lnTo>
                  <a:cubicBezTo>
                    <a:pt x="0" y="66763"/>
                    <a:pt x="66763" y="0"/>
                    <a:pt x="149119" y="0"/>
                  </a:cubicBezTo>
                  <a:close/>
                </a:path>
              </a:pathLst>
            </a:custGeom>
            <a:gradFill rotWithShape="true">
              <a:gsLst>
                <a:gs pos="0">
                  <a:srgbClr val="4F4F4F">
                    <a:alpha val="100000"/>
                  </a:srgbClr>
                </a:gs>
                <a:gs pos="100000">
                  <a:srgbClr val="2C2C2C">
                    <a:alpha val="100000"/>
                  </a:srgbClr>
                </a:gs>
              </a:gsLst>
              <a:path path="circle">
                <a:fillToRect l="0" r="100000" t="0" b="100000"/>
              </a:path>
              <a:tileRect r="0" l="-100000" b="0" t="-100000"/>
            </a:gradFill>
          </p:spPr>
        </p:sp>
        <p:sp>
          <p:nvSpPr>
            <p:cNvPr name="TextBox 11" id="11"/>
            <p:cNvSpPr txBox="true"/>
            <p:nvPr/>
          </p:nvSpPr>
          <p:spPr>
            <a:xfrm>
              <a:off x="0" y="-38100"/>
              <a:ext cx="298237" cy="336337"/>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3512053" y="7800309"/>
            <a:ext cx="1132370" cy="1132370"/>
            <a:chOff x="0" y="0"/>
            <a:chExt cx="298237" cy="298237"/>
          </a:xfrm>
        </p:grpSpPr>
        <p:sp>
          <p:nvSpPr>
            <p:cNvPr name="Freeform 13" id="13"/>
            <p:cNvSpPr/>
            <p:nvPr/>
          </p:nvSpPr>
          <p:spPr>
            <a:xfrm flipH="false" flipV="false" rot="0">
              <a:off x="0" y="0"/>
              <a:ext cx="298237" cy="298237"/>
            </a:xfrm>
            <a:custGeom>
              <a:avLst/>
              <a:gdLst/>
              <a:ahLst/>
              <a:cxnLst/>
              <a:rect r="r" b="b" t="t" l="l"/>
              <a:pathLst>
                <a:path h="298237" w="298237">
                  <a:moveTo>
                    <a:pt x="149119" y="0"/>
                  </a:moveTo>
                  <a:lnTo>
                    <a:pt x="149119" y="0"/>
                  </a:lnTo>
                  <a:cubicBezTo>
                    <a:pt x="231475" y="0"/>
                    <a:pt x="298237" y="66763"/>
                    <a:pt x="298237" y="149119"/>
                  </a:cubicBezTo>
                  <a:lnTo>
                    <a:pt x="298237" y="149119"/>
                  </a:lnTo>
                  <a:cubicBezTo>
                    <a:pt x="298237" y="231475"/>
                    <a:pt x="231475" y="298237"/>
                    <a:pt x="149119" y="298237"/>
                  </a:cubicBezTo>
                  <a:lnTo>
                    <a:pt x="149119" y="298237"/>
                  </a:lnTo>
                  <a:cubicBezTo>
                    <a:pt x="66763" y="298237"/>
                    <a:pt x="0" y="231475"/>
                    <a:pt x="0" y="149119"/>
                  </a:cubicBezTo>
                  <a:lnTo>
                    <a:pt x="0" y="149119"/>
                  </a:lnTo>
                  <a:cubicBezTo>
                    <a:pt x="0" y="66763"/>
                    <a:pt x="66763" y="0"/>
                    <a:pt x="149119" y="0"/>
                  </a:cubicBezTo>
                  <a:close/>
                </a:path>
              </a:pathLst>
            </a:custGeom>
            <a:gradFill rotWithShape="true">
              <a:gsLst>
                <a:gs pos="0">
                  <a:srgbClr val="4F4F4F">
                    <a:alpha val="100000"/>
                  </a:srgbClr>
                </a:gs>
                <a:gs pos="100000">
                  <a:srgbClr val="2C2C2C">
                    <a:alpha val="100000"/>
                  </a:srgbClr>
                </a:gs>
              </a:gsLst>
              <a:path path="circle">
                <a:fillToRect l="0" r="100000" t="0" b="100000"/>
              </a:path>
              <a:tileRect r="0" l="-100000" b="0" t="-100000"/>
            </a:gradFill>
          </p:spPr>
        </p:sp>
        <p:sp>
          <p:nvSpPr>
            <p:cNvPr name="TextBox 14" id="14"/>
            <p:cNvSpPr txBox="true"/>
            <p:nvPr/>
          </p:nvSpPr>
          <p:spPr>
            <a:xfrm>
              <a:off x="0" y="-38100"/>
              <a:ext cx="298237" cy="336337"/>
            </a:xfrm>
            <a:prstGeom prst="rect">
              <a:avLst/>
            </a:prstGeom>
          </p:spPr>
          <p:txBody>
            <a:bodyPr anchor="ctr" rtlCol="false" tIns="50800" lIns="50800" bIns="50800" rIns="50800"/>
            <a:lstStyle/>
            <a:p>
              <a:pPr algn="ctr">
                <a:lnSpc>
                  <a:spcPts val="3079"/>
                </a:lnSpc>
              </a:pPr>
            </a:p>
          </p:txBody>
        </p:sp>
      </p:grpSp>
      <p:grpSp>
        <p:nvGrpSpPr>
          <p:cNvPr name="Group 15" id="15"/>
          <p:cNvGrpSpPr/>
          <p:nvPr/>
        </p:nvGrpSpPr>
        <p:grpSpPr>
          <a:xfrm rot="0">
            <a:off x="5558823" y="7800309"/>
            <a:ext cx="1132370" cy="1132370"/>
            <a:chOff x="0" y="0"/>
            <a:chExt cx="298237" cy="298237"/>
          </a:xfrm>
        </p:grpSpPr>
        <p:sp>
          <p:nvSpPr>
            <p:cNvPr name="Freeform 16" id="16"/>
            <p:cNvSpPr/>
            <p:nvPr/>
          </p:nvSpPr>
          <p:spPr>
            <a:xfrm flipH="false" flipV="false" rot="0">
              <a:off x="0" y="0"/>
              <a:ext cx="298237" cy="298237"/>
            </a:xfrm>
            <a:custGeom>
              <a:avLst/>
              <a:gdLst/>
              <a:ahLst/>
              <a:cxnLst/>
              <a:rect r="r" b="b" t="t" l="l"/>
              <a:pathLst>
                <a:path h="298237" w="298237">
                  <a:moveTo>
                    <a:pt x="149119" y="0"/>
                  </a:moveTo>
                  <a:lnTo>
                    <a:pt x="149119" y="0"/>
                  </a:lnTo>
                  <a:cubicBezTo>
                    <a:pt x="231475" y="0"/>
                    <a:pt x="298237" y="66763"/>
                    <a:pt x="298237" y="149119"/>
                  </a:cubicBezTo>
                  <a:lnTo>
                    <a:pt x="298237" y="149119"/>
                  </a:lnTo>
                  <a:cubicBezTo>
                    <a:pt x="298237" y="231475"/>
                    <a:pt x="231475" y="298237"/>
                    <a:pt x="149119" y="298237"/>
                  </a:cubicBezTo>
                  <a:lnTo>
                    <a:pt x="149119" y="298237"/>
                  </a:lnTo>
                  <a:cubicBezTo>
                    <a:pt x="66763" y="298237"/>
                    <a:pt x="0" y="231475"/>
                    <a:pt x="0" y="149119"/>
                  </a:cubicBezTo>
                  <a:lnTo>
                    <a:pt x="0" y="149119"/>
                  </a:lnTo>
                  <a:cubicBezTo>
                    <a:pt x="0" y="66763"/>
                    <a:pt x="66763" y="0"/>
                    <a:pt x="149119" y="0"/>
                  </a:cubicBezTo>
                  <a:close/>
                </a:path>
              </a:pathLst>
            </a:custGeom>
            <a:gradFill rotWithShape="true">
              <a:gsLst>
                <a:gs pos="0">
                  <a:srgbClr val="4F4F4F">
                    <a:alpha val="100000"/>
                  </a:srgbClr>
                </a:gs>
                <a:gs pos="100000">
                  <a:srgbClr val="2C2C2C">
                    <a:alpha val="100000"/>
                  </a:srgbClr>
                </a:gs>
              </a:gsLst>
              <a:path path="circle">
                <a:fillToRect l="0" r="100000" t="0" b="100000"/>
              </a:path>
              <a:tileRect r="0" l="-100000" b="0" t="-100000"/>
            </a:gradFill>
          </p:spPr>
        </p:sp>
        <p:sp>
          <p:nvSpPr>
            <p:cNvPr name="TextBox 17" id="17"/>
            <p:cNvSpPr txBox="true"/>
            <p:nvPr/>
          </p:nvSpPr>
          <p:spPr>
            <a:xfrm>
              <a:off x="0" y="-38100"/>
              <a:ext cx="298237" cy="336337"/>
            </a:xfrm>
            <a:prstGeom prst="rect">
              <a:avLst/>
            </a:prstGeom>
          </p:spPr>
          <p:txBody>
            <a:bodyPr anchor="ctr" rtlCol="false" tIns="50800" lIns="50800" bIns="50800" rIns="50800"/>
            <a:lstStyle/>
            <a:p>
              <a:pPr algn="ctr">
                <a:lnSpc>
                  <a:spcPts val="3079"/>
                </a:lnSpc>
              </a:pPr>
            </a:p>
          </p:txBody>
        </p:sp>
      </p:grpSp>
      <p:grpSp>
        <p:nvGrpSpPr>
          <p:cNvPr name="Group 18" id="18"/>
          <p:cNvGrpSpPr/>
          <p:nvPr/>
        </p:nvGrpSpPr>
        <p:grpSpPr>
          <a:xfrm rot="0">
            <a:off x="10880333" y="7516459"/>
            <a:ext cx="6071411" cy="3058730"/>
            <a:chOff x="0" y="0"/>
            <a:chExt cx="1381758" cy="696119"/>
          </a:xfrm>
        </p:grpSpPr>
        <p:sp>
          <p:nvSpPr>
            <p:cNvPr name="Freeform 19" id="19"/>
            <p:cNvSpPr/>
            <p:nvPr/>
          </p:nvSpPr>
          <p:spPr>
            <a:xfrm flipH="false" flipV="false" rot="0">
              <a:off x="0" y="0"/>
              <a:ext cx="1381758" cy="696119"/>
            </a:xfrm>
            <a:custGeom>
              <a:avLst/>
              <a:gdLst/>
              <a:ahLst/>
              <a:cxnLst/>
              <a:rect r="r" b="b" t="t" l="l"/>
              <a:pathLst>
                <a:path h="696119" w="1381758">
                  <a:moveTo>
                    <a:pt x="0" y="0"/>
                  </a:moveTo>
                  <a:lnTo>
                    <a:pt x="1381758" y="0"/>
                  </a:lnTo>
                  <a:lnTo>
                    <a:pt x="1381758" y="696119"/>
                  </a:lnTo>
                  <a:lnTo>
                    <a:pt x="0" y="696119"/>
                  </a:lnTo>
                  <a:close/>
                </a:path>
              </a:pathLst>
            </a:custGeom>
            <a:blipFill>
              <a:blip r:embed="rId2"/>
              <a:stretch>
                <a:fillRect l="0" t="-32329" r="0" b="0"/>
              </a:stretch>
            </a:blipFill>
          </p:spPr>
        </p:sp>
      </p:grpSp>
      <p:sp>
        <p:nvSpPr>
          <p:cNvPr name="AutoShape 20" id="20"/>
          <p:cNvSpPr/>
          <p:nvPr/>
        </p:nvSpPr>
        <p:spPr>
          <a:xfrm>
            <a:off x="1469121" y="2900030"/>
            <a:ext cx="733088" cy="0"/>
          </a:xfrm>
          <a:prstGeom prst="line">
            <a:avLst/>
          </a:prstGeom>
          <a:ln cap="rnd" w="76200">
            <a:solidFill>
              <a:srgbClr val="E42119"/>
            </a:solidFill>
            <a:prstDash val="solid"/>
            <a:headEnd type="none" len="sm" w="sm"/>
            <a:tailEnd type="none" len="sm" w="sm"/>
          </a:ln>
        </p:spPr>
      </p:sp>
      <p:sp>
        <p:nvSpPr>
          <p:cNvPr name="Freeform 21" id="21"/>
          <p:cNvSpPr/>
          <p:nvPr/>
        </p:nvSpPr>
        <p:spPr>
          <a:xfrm flipH="false" flipV="false" rot="0">
            <a:off x="1767841" y="8145227"/>
            <a:ext cx="534930" cy="442533"/>
          </a:xfrm>
          <a:custGeom>
            <a:avLst/>
            <a:gdLst/>
            <a:ahLst/>
            <a:cxnLst/>
            <a:rect r="r" b="b" t="t" l="l"/>
            <a:pathLst>
              <a:path h="442533" w="534930">
                <a:moveTo>
                  <a:pt x="0" y="0"/>
                </a:moveTo>
                <a:lnTo>
                  <a:pt x="534930" y="0"/>
                </a:lnTo>
                <a:lnTo>
                  <a:pt x="534930" y="442533"/>
                </a:lnTo>
                <a:lnTo>
                  <a:pt x="0" y="4425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3742733" y="8032208"/>
            <a:ext cx="671010" cy="668570"/>
          </a:xfrm>
          <a:custGeom>
            <a:avLst/>
            <a:gdLst/>
            <a:ahLst/>
            <a:cxnLst/>
            <a:rect r="r" b="b" t="t" l="l"/>
            <a:pathLst>
              <a:path h="668570" w="671010">
                <a:moveTo>
                  <a:pt x="0" y="0"/>
                </a:moveTo>
                <a:lnTo>
                  <a:pt x="671010" y="0"/>
                </a:lnTo>
                <a:lnTo>
                  <a:pt x="671010" y="668571"/>
                </a:lnTo>
                <a:lnTo>
                  <a:pt x="0" y="6685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5813365" y="8077493"/>
            <a:ext cx="623286" cy="623286"/>
          </a:xfrm>
          <a:custGeom>
            <a:avLst/>
            <a:gdLst/>
            <a:ahLst/>
            <a:cxnLst/>
            <a:rect r="r" b="b" t="t" l="l"/>
            <a:pathLst>
              <a:path h="623286" w="623286">
                <a:moveTo>
                  <a:pt x="0" y="0"/>
                </a:moveTo>
                <a:lnTo>
                  <a:pt x="623285" y="0"/>
                </a:lnTo>
                <a:lnTo>
                  <a:pt x="623285" y="623286"/>
                </a:lnTo>
                <a:lnTo>
                  <a:pt x="0" y="6232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4" id="24"/>
          <p:cNvSpPr txBox="true"/>
          <p:nvPr/>
        </p:nvSpPr>
        <p:spPr>
          <a:xfrm rot="0">
            <a:off x="2035306" y="1760525"/>
            <a:ext cx="6382192" cy="930308"/>
          </a:xfrm>
          <a:prstGeom prst="rect">
            <a:avLst/>
          </a:prstGeom>
        </p:spPr>
        <p:txBody>
          <a:bodyPr anchor="t" rtlCol="false" tIns="0" lIns="0" bIns="0" rIns="0">
            <a:spAutoFit/>
          </a:bodyPr>
          <a:lstStyle/>
          <a:p>
            <a:pPr algn="l">
              <a:lnSpc>
                <a:spcPts val="6999"/>
              </a:lnSpc>
            </a:pPr>
            <a:r>
              <a:rPr lang="en-US" sz="6999" b="true">
                <a:solidFill>
                  <a:srgbClr val="060606"/>
                </a:solidFill>
                <a:latin typeface="Garet Bold"/>
                <a:ea typeface="Garet Bold"/>
                <a:cs typeface="Garet Bold"/>
                <a:sym typeface="Garet Bold"/>
              </a:rPr>
              <a:t>intoduction</a:t>
            </a:r>
          </a:p>
        </p:txBody>
      </p:sp>
      <p:sp>
        <p:nvSpPr>
          <p:cNvPr name="TextBox 25" id="25"/>
          <p:cNvSpPr txBox="true"/>
          <p:nvPr/>
        </p:nvSpPr>
        <p:spPr>
          <a:xfrm rot="0">
            <a:off x="2035306" y="3527357"/>
            <a:ext cx="13661428" cy="3457731"/>
          </a:xfrm>
          <a:prstGeom prst="rect">
            <a:avLst/>
          </a:prstGeom>
        </p:spPr>
        <p:txBody>
          <a:bodyPr anchor="t" rtlCol="false" tIns="0" lIns="0" bIns="0" rIns="0">
            <a:spAutoFit/>
          </a:bodyPr>
          <a:lstStyle/>
          <a:p>
            <a:pPr algn="just">
              <a:lnSpc>
                <a:spcPts val="3381"/>
              </a:lnSpc>
            </a:pPr>
            <a:r>
              <a:rPr lang="en-US" sz="3381">
                <a:solidFill>
                  <a:srgbClr val="060606"/>
                </a:solidFill>
                <a:latin typeface="Roboto"/>
                <a:ea typeface="Roboto"/>
                <a:cs typeface="Roboto"/>
                <a:sym typeface="Roboto"/>
              </a:rPr>
              <a:t>Le projet </a:t>
            </a:r>
            <a:r>
              <a:rPr lang="en-US" sz="3381" b="true">
                <a:solidFill>
                  <a:srgbClr val="060606"/>
                </a:solidFill>
                <a:latin typeface="Roboto Bold"/>
                <a:ea typeface="Roboto Bold"/>
                <a:cs typeface="Roboto Bold"/>
                <a:sym typeface="Roboto Bold"/>
              </a:rPr>
              <a:t>Fitness AI Chatbot</a:t>
            </a:r>
            <a:r>
              <a:rPr lang="en-US" sz="3381">
                <a:solidFill>
                  <a:srgbClr val="060606"/>
                </a:solidFill>
                <a:latin typeface="Roboto"/>
                <a:ea typeface="Roboto"/>
                <a:cs typeface="Roboto"/>
                <a:sym typeface="Roboto"/>
              </a:rPr>
              <a:t> est une application web intelligente (</a:t>
            </a:r>
            <a:r>
              <a:rPr lang="en-US" sz="3381" b="true">
                <a:solidFill>
                  <a:srgbClr val="060606"/>
                </a:solidFill>
                <a:latin typeface="Roboto Bold"/>
                <a:ea typeface="Roboto Bold"/>
                <a:cs typeface="Roboto Bold"/>
                <a:sym typeface="Roboto Bold"/>
              </a:rPr>
              <a:t>SaaS)</a:t>
            </a:r>
            <a:r>
              <a:rPr lang="en-US" sz="3381">
                <a:solidFill>
                  <a:srgbClr val="060606"/>
                </a:solidFill>
                <a:latin typeface="Roboto"/>
                <a:ea typeface="Roboto"/>
                <a:cs typeface="Roboto"/>
                <a:sym typeface="Roboto"/>
              </a:rPr>
              <a:t> conçue pour aider les utilisateurs à atteindre leurs objectifs de fitness (perte de poids, prise de masse, remise en forme).</a:t>
            </a:r>
          </a:p>
          <a:p>
            <a:pPr algn="just" marL="0" indent="0" lvl="0">
              <a:lnSpc>
                <a:spcPts val="3381"/>
              </a:lnSpc>
            </a:pPr>
            <a:r>
              <a:rPr lang="en-US" sz="3381">
                <a:solidFill>
                  <a:srgbClr val="060606"/>
                </a:solidFill>
                <a:latin typeface="Roboto"/>
                <a:ea typeface="Roboto"/>
                <a:cs typeface="Roboto"/>
                <a:sym typeface="Roboto"/>
              </a:rPr>
              <a:t>Contrairement à une simple application de suivi, elle intègre un </a:t>
            </a:r>
            <a:r>
              <a:rPr lang="en-US" b="true" sz="3381">
                <a:solidFill>
                  <a:srgbClr val="060606"/>
                </a:solidFill>
                <a:latin typeface="Roboto Bold"/>
                <a:ea typeface="Roboto Bold"/>
                <a:cs typeface="Roboto Bold"/>
                <a:sym typeface="Roboto Bold"/>
              </a:rPr>
              <a:t>Coach Virtuel basé sur l'Intelligence Artificielle (LLM + RAG)</a:t>
            </a:r>
            <a:r>
              <a:rPr lang="en-US" sz="3381">
                <a:solidFill>
                  <a:srgbClr val="060606"/>
                </a:solidFill>
                <a:latin typeface="Roboto"/>
                <a:ea typeface="Roboto"/>
                <a:cs typeface="Roboto"/>
                <a:sym typeface="Roboto"/>
              </a:rPr>
              <a:t> qui analyse le profil de l'utilisateur et interagit avec lui en langage naturel pour fournir des programmes d'entraînement sur mesure, tout en s'appuyant sur une base de données locale validée d'exercices.</a:t>
            </a:r>
          </a:p>
        </p:txBody>
      </p:sp>
      <p:grpSp>
        <p:nvGrpSpPr>
          <p:cNvPr name="Group 26" id="26"/>
          <p:cNvGrpSpPr/>
          <p:nvPr/>
        </p:nvGrpSpPr>
        <p:grpSpPr>
          <a:xfrm rot="0">
            <a:off x="-2843704" y="-802973"/>
            <a:ext cx="6060259" cy="2258699"/>
            <a:chOff x="0" y="0"/>
            <a:chExt cx="1596118" cy="594884"/>
          </a:xfrm>
        </p:grpSpPr>
        <p:sp>
          <p:nvSpPr>
            <p:cNvPr name="Freeform 27" id="27"/>
            <p:cNvSpPr/>
            <p:nvPr/>
          </p:nvSpPr>
          <p:spPr>
            <a:xfrm flipH="false" flipV="false" rot="0">
              <a:off x="0" y="0"/>
              <a:ext cx="1596118" cy="594884"/>
            </a:xfrm>
            <a:custGeom>
              <a:avLst/>
              <a:gdLst/>
              <a:ahLst/>
              <a:cxnLst/>
              <a:rect r="r" b="b" t="t" l="l"/>
              <a:pathLst>
                <a:path h="594884" w="1596118">
                  <a:moveTo>
                    <a:pt x="0" y="0"/>
                  </a:moveTo>
                  <a:lnTo>
                    <a:pt x="1596118" y="0"/>
                  </a:lnTo>
                  <a:lnTo>
                    <a:pt x="1596118" y="594884"/>
                  </a:lnTo>
                  <a:lnTo>
                    <a:pt x="0" y="594884"/>
                  </a:lnTo>
                  <a:close/>
                </a:path>
              </a:pathLst>
            </a:custGeom>
            <a:solidFill>
              <a:srgbClr val="D0F046"/>
            </a:solidFill>
          </p:spPr>
        </p:sp>
        <p:sp>
          <p:nvSpPr>
            <p:cNvPr name="TextBox 28" id="28"/>
            <p:cNvSpPr txBox="true"/>
            <p:nvPr/>
          </p:nvSpPr>
          <p:spPr>
            <a:xfrm>
              <a:off x="0" y="-38100"/>
              <a:ext cx="1596118" cy="632984"/>
            </a:xfrm>
            <a:prstGeom prst="rect">
              <a:avLst/>
            </a:prstGeom>
          </p:spPr>
          <p:txBody>
            <a:bodyPr anchor="ctr" rtlCol="false" tIns="50800" lIns="50800" bIns="50800" rIns="50800"/>
            <a:lstStyle/>
            <a:p>
              <a:pPr algn="ctr">
                <a:lnSpc>
                  <a:spcPts val="307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sp>
        <p:nvSpPr>
          <p:cNvPr name="AutoShape 2" id="2"/>
          <p:cNvSpPr/>
          <p:nvPr/>
        </p:nvSpPr>
        <p:spPr>
          <a:xfrm flipH="true" flipV="true">
            <a:off x="9146359" y="61953"/>
            <a:ext cx="0" cy="10287000"/>
          </a:xfrm>
          <a:prstGeom prst="line">
            <a:avLst/>
          </a:prstGeom>
          <a:ln cap="flat" w="38100">
            <a:solidFill>
              <a:srgbClr val="57595F">
                <a:alpha val="9804"/>
              </a:srgbClr>
            </a:solidFill>
            <a:prstDash val="solid"/>
            <a:headEnd type="none" len="sm" w="sm"/>
            <a:tailEnd type="none" len="sm" w="sm"/>
          </a:ln>
        </p:spPr>
      </p:sp>
      <p:sp>
        <p:nvSpPr>
          <p:cNvPr name="AutoShape 3" id="3"/>
          <p:cNvSpPr/>
          <p:nvPr/>
        </p:nvSpPr>
        <p:spPr>
          <a:xfrm flipV="true">
            <a:off x="11703866" y="0"/>
            <a:ext cx="0" cy="10348953"/>
          </a:xfrm>
          <a:prstGeom prst="line">
            <a:avLst/>
          </a:prstGeom>
          <a:ln cap="flat" w="38100">
            <a:solidFill>
              <a:srgbClr val="57595F">
                <a:alpha val="9804"/>
              </a:srgbClr>
            </a:solidFill>
            <a:prstDash val="solid"/>
            <a:headEnd type="none" len="sm" w="sm"/>
            <a:tailEnd type="none" len="sm" w="sm"/>
          </a:ln>
        </p:spPr>
      </p:sp>
      <p:sp>
        <p:nvSpPr>
          <p:cNvPr name="AutoShape 4" id="4"/>
          <p:cNvSpPr/>
          <p:nvPr/>
        </p:nvSpPr>
        <p:spPr>
          <a:xfrm flipV="true">
            <a:off x="14261372" y="-61953"/>
            <a:ext cx="0" cy="10410906"/>
          </a:xfrm>
          <a:prstGeom prst="line">
            <a:avLst/>
          </a:prstGeom>
          <a:ln cap="flat" w="38100">
            <a:solidFill>
              <a:srgbClr val="57595F">
                <a:alpha val="9804"/>
              </a:srgbClr>
            </a:solidFill>
            <a:prstDash val="solid"/>
            <a:headEnd type="none" len="sm" w="sm"/>
            <a:tailEnd type="none" len="sm" w="sm"/>
          </a:ln>
        </p:spPr>
      </p:sp>
      <p:sp>
        <p:nvSpPr>
          <p:cNvPr name="AutoShape 5" id="5"/>
          <p:cNvSpPr/>
          <p:nvPr/>
        </p:nvSpPr>
        <p:spPr>
          <a:xfrm flipV="true">
            <a:off x="16818879" y="-123906"/>
            <a:ext cx="0" cy="10472859"/>
          </a:xfrm>
          <a:prstGeom prst="line">
            <a:avLst/>
          </a:prstGeom>
          <a:ln cap="flat" w="38100">
            <a:solidFill>
              <a:srgbClr val="57595F">
                <a:alpha val="9804"/>
              </a:srgbClr>
            </a:solidFill>
            <a:prstDash val="solid"/>
            <a:headEnd type="none" len="sm" w="sm"/>
            <a:tailEnd type="none" len="sm" w="sm"/>
          </a:ln>
        </p:spPr>
      </p:sp>
      <p:sp>
        <p:nvSpPr>
          <p:cNvPr name="AutoShape 6" id="6"/>
          <p:cNvSpPr/>
          <p:nvPr/>
        </p:nvSpPr>
        <p:spPr>
          <a:xfrm flipH="true" flipV="true">
            <a:off x="1469121" y="0"/>
            <a:ext cx="0" cy="10287000"/>
          </a:xfrm>
          <a:prstGeom prst="line">
            <a:avLst/>
          </a:prstGeom>
          <a:ln cap="flat" w="38100">
            <a:solidFill>
              <a:srgbClr val="57595F">
                <a:alpha val="9804"/>
              </a:srgbClr>
            </a:solidFill>
            <a:prstDash val="solid"/>
            <a:headEnd type="none" len="sm" w="sm"/>
            <a:tailEnd type="none" len="sm" w="sm"/>
          </a:ln>
        </p:spPr>
      </p:sp>
      <p:sp>
        <p:nvSpPr>
          <p:cNvPr name="AutoShape 7" id="7"/>
          <p:cNvSpPr/>
          <p:nvPr/>
        </p:nvSpPr>
        <p:spPr>
          <a:xfrm flipV="true">
            <a:off x="4026628" y="-61953"/>
            <a:ext cx="0" cy="10348953"/>
          </a:xfrm>
          <a:prstGeom prst="line">
            <a:avLst/>
          </a:prstGeom>
          <a:ln cap="flat" w="38100">
            <a:solidFill>
              <a:srgbClr val="57595F">
                <a:alpha val="9804"/>
              </a:srgbClr>
            </a:solidFill>
            <a:prstDash val="solid"/>
            <a:headEnd type="none" len="sm" w="sm"/>
            <a:tailEnd type="none" len="sm" w="sm"/>
          </a:ln>
        </p:spPr>
      </p:sp>
      <p:sp>
        <p:nvSpPr>
          <p:cNvPr name="AutoShape 8" id="8"/>
          <p:cNvSpPr/>
          <p:nvPr/>
        </p:nvSpPr>
        <p:spPr>
          <a:xfrm flipV="true">
            <a:off x="6584134" y="-123906"/>
            <a:ext cx="0" cy="10410906"/>
          </a:xfrm>
          <a:prstGeom prst="line">
            <a:avLst/>
          </a:prstGeom>
          <a:ln cap="flat" w="38100">
            <a:solidFill>
              <a:srgbClr val="57595F">
                <a:alpha val="9804"/>
              </a:srgbClr>
            </a:solidFill>
            <a:prstDash val="solid"/>
            <a:headEnd type="none" len="sm" w="sm"/>
            <a:tailEnd type="none" len="sm" w="sm"/>
          </a:ln>
        </p:spPr>
      </p:sp>
      <p:sp>
        <p:nvSpPr>
          <p:cNvPr name="TextBox 9" id="9"/>
          <p:cNvSpPr txBox="true"/>
          <p:nvPr/>
        </p:nvSpPr>
        <p:spPr>
          <a:xfrm rot="0">
            <a:off x="1469121" y="2291795"/>
            <a:ext cx="6100358" cy="1327917"/>
          </a:xfrm>
          <a:prstGeom prst="rect">
            <a:avLst/>
          </a:prstGeom>
        </p:spPr>
        <p:txBody>
          <a:bodyPr anchor="t" rtlCol="false" tIns="0" lIns="0" bIns="0" rIns="0">
            <a:spAutoFit/>
          </a:bodyPr>
          <a:lstStyle/>
          <a:p>
            <a:pPr algn="l">
              <a:lnSpc>
                <a:spcPts val="5144"/>
              </a:lnSpc>
            </a:pPr>
            <a:r>
              <a:rPr lang="en-US" sz="5144" b="true">
                <a:solidFill>
                  <a:srgbClr val="060606"/>
                </a:solidFill>
                <a:latin typeface="Garet Bold"/>
                <a:ea typeface="Garet Bold"/>
                <a:cs typeface="Garet Bold"/>
                <a:sym typeface="Garet Bold"/>
              </a:rPr>
              <a:t>PROBLÉMATIQUE &amp; OBJECTIFS</a:t>
            </a:r>
          </a:p>
        </p:txBody>
      </p:sp>
      <p:sp>
        <p:nvSpPr>
          <p:cNvPr name="AutoShape 10" id="10"/>
          <p:cNvSpPr/>
          <p:nvPr/>
        </p:nvSpPr>
        <p:spPr>
          <a:xfrm flipV="true">
            <a:off x="9529513" y="3259309"/>
            <a:ext cx="0" cy="5441671"/>
          </a:xfrm>
          <a:prstGeom prst="line">
            <a:avLst/>
          </a:prstGeom>
          <a:ln cap="rnd" w="76200">
            <a:solidFill>
              <a:srgbClr val="E42119"/>
            </a:solidFill>
            <a:prstDash val="solid"/>
            <a:headEnd type="none" len="sm" w="sm"/>
            <a:tailEnd type="none" len="sm" w="sm"/>
          </a:ln>
        </p:spPr>
      </p:sp>
      <p:grpSp>
        <p:nvGrpSpPr>
          <p:cNvPr name="Group 11" id="11"/>
          <p:cNvGrpSpPr/>
          <p:nvPr/>
        </p:nvGrpSpPr>
        <p:grpSpPr>
          <a:xfrm rot="0">
            <a:off x="9803584" y="-401097"/>
            <a:ext cx="8484416" cy="2245369"/>
            <a:chOff x="0" y="0"/>
            <a:chExt cx="3140998" cy="831253"/>
          </a:xfrm>
        </p:grpSpPr>
        <p:sp>
          <p:nvSpPr>
            <p:cNvPr name="Freeform 12" id="12"/>
            <p:cNvSpPr/>
            <p:nvPr/>
          </p:nvSpPr>
          <p:spPr>
            <a:xfrm flipH="false" flipV="false" rot="0">
              <a:off x="0" y="0"/>
              <a:ext cx="3140998" cy="831253"/>
            </a:xfrm>
            <a:custGeom>
              <a:avLst/>
              <a:gdLst/>
              <a:ahLst/>
              <a:cxnLst/>
              <a:rect r="r" b="b" t="t" l="l"/>
              <a:pathLst>
                <a:path h="831253" w="3140998">
                  <a:moveTo>
                    <a:pt x="0" y="0"/>
                  </a:moveTo>
                  <a:lnTo>
                    <a:pt x="3140998" y="0"/>
                  </a:lnTo>
                  <a:lnTo>
                    <a:pt x="3140998" y="831253"/>
                  </a:lnTo>
                  <a:lnTo>
                    <a:pt x="0" y="831253"/>
                  </a:lnTo>
                  <a:close/>
                </a:path>
              </a:pathLst>
            </a:custGeom>
            <a:blipFill>
              <a:blip r:embed="rId2"/>
              <a:stretch>
                <a:fillRect l="0" t="-76111" r="0" b="-76111"/>
              </a:stretch>
            </a:blipFill>
          </p:spPr>
        </p:sp>
      </p:grpSp>
      <p:sp>
        <p:nvSpPr>
          <p:cNvPr name="TextBox 13" id="13"/>
          <p:cNvSpPr txBox="true"/>
          <p:nvPr/>
        </p:nvSpPr>
        <p:spPr>
          <a:xfrm rot="0">
            <a:off x="1462961" y="4142919"/>
            <a:ext cx="7340498" cy="4120646"/>
          </a:xfrm>
          <a:prstGeom prst="rect">
            <a:avLst/>
          </a:prstGeom>
        </p:spPr>
        <p:txBody>
          <a:bodyPr anchor="t" rtlCol="false" tIns="0" lIns="0" bIns="0" rIns="0">
            <a:spAutoFit/>
          </a:bodyPr>
          <a:lstStyle/>
          <a:p>
            <a:pPr algn="just" marL="0" indent="0" lvl="0">
              <a:lnSpc>
                <a:spcPts val="2964"/>
              </a:lnSpc>
            </a:pPr>
            <a:r>
              <a:rPr lang="en-US" sz="2964">
                <a:solidFill>
                  <a:srgbClr val="060606"/>
                </a:solidFill>
                <a:latin typeface="Roboto"/>
                <a:ea typeface="Roboto"/>
                <a:cs typeface="Roboto"/>
                <a:sym typeface="Roboto"/>
              </a:rPr>
              <a:t>Aujourd'hui, trouver un accompagnement sportif adapté est un vrai défi. Les coachs professionnels restent trop chers pour la majorité des gens, alors que les applications classiques proposent des programmes génériques qui ne s'adaptent pas aux besoins de chacun. De plus, sans un suivi précis et personnalisé du métabolisme, il devient très difficile d'atteindre efficacement ses objectifs de fitness et de nutrition.</a:t>
            </a:r>
          </a:p>
        </p:txBody>
      </p:sp>
      <p:grpSp>
        <p:nvGrpSpPr>
          <p:cNvPr name="Group 14" id="14"/>
          <p:cNvGrpSpPr/>
          <p:nvPr/>
        </p:nvGrpSpPr>
        <p:grpSpPr>
          <a:xfrm rot="0">
            <a:off x="-2573231" y="-547259"/>
            <a:ext cx="6060259" cy="2258699"/>
            <a:chOff x="0" y="0"/>
            <a:chExt cx="1596118" cy="594884"/>
          </a:xfrm>
        </p:grpSpPr>
        <p:sp>
          <p:nvSpPr>
            <p:cNvPr name="Freeform 15" id="15"/>
            <p:cNvSpPr/>
            <p:nvPr/>
          </p:nvSpPr>
          <p:spPr>
            <a:xfrm flipH="false" flipV="false" rot="0">
              <a:off x="0" y="0"/>
              <a:ext cx="1596118" cy="594884"/>
            </a:xfrm>
            <a:custGeom>
              <a:avLst/>
              <a:gdLst/>
              <a:ahLst/>
              <a:cxnLst/>
              <a:rect r="r" b="b" t="t" l="l"/>
              <a:pathLst>
                <a:path h="594884" w="1596118">
                  <a:moveTo>
                    <a:pt x="0" y="0"/>
                  </a:moveTo>
                  <a:lnTo>
                    <a:pt x="1596118" y="0"/>
                  </a:lnTo>
                  <a:lnTo>
                    <a:pt x="1596118" y="594884"/>
                  </a:lnTo>
                  <a:lnTo>
                    <a:pt x="0" y="594884"/>
                  </a:lnTo>
                  <a:close/>
                </a:path>
              </a:pathLst>
            </a:custGeom>
            <a:solidFill>
              <a:srgbClr val="D0F046"/>
            </a:solidFill>
          </p:spPr>
        </p:sp>
        <p:sp>
          <p:nvSpPr>
            <p:cNvPr name="TextBox 16" id="16"/>
            <p:cNvSpPr txBox="true"/>
            <p:nvPr/>
          </p:nvSpPr>
          <p:spPr>
            <a:xfrm>
              <a:off x="0" y="-38100"/>
              <a:ext cx="1596118" cy="632984"/>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0253413" y="4142919"/>
            <a:ext cx="7340498" cy="4120646"/>
          </a:xfrm>
          <a:prstGeom prst="rect">
            <a:avLst/>
          </a:prstGeom>
        </p:spPr>
        <p:txBody>
          <a:bodyPr anchor="t" rtlCol="false" tIns="0" lIns="0" bIns="0" rIns="0">
            <a:spAutoFit/>
          </a:bodyPr>
          <a:lstStyle/>
          <a:p>
            <a:pPr algn="just" marL="0" indent="0" lvl="0">
              <a:lnSpc>
                <a:spcPts val="2964"/>
              </a:lnSpc>
            </a:pPr>
            <a:r>
              <a:rPr lang="en-US" sz="2964">
                <a:solidFill>
                  <a:srgbClr val="060606"/>
                </a:solidFill>
                <a:latin typeface="Roboto"/>
                <a:ea typeface="Roboto"/>
                <a:cs typeface="Roboto"/>
                <a:sym typeface="Roboto"/>
              </a:rPr>
              <a:t>Pour résoudre cela, nous avons conçu un coach virtuel intelligent basé sur l'IA  et une base de connaissances (RAG) et source extern de plus de 1400 exercices. L'application calcule automatiquement vos besoins énergétiques (BMR, TDEE, macros) et génère un planning personnalisé de 7 jours. Grâce à un dashboard interactif, l'utilisateur bénéficie d'un suivi simple, dynamique et totalement adapté à son profil.</a:t>
            </a:r>
          </a:p>
        </p:txBody>
      </p:sp>
      <p:sp>
        <p:nvSpPr>
          <p:cNvPr name="TextBox 18" id="18"/>
          <p:cNvSpPr txBox="true"/>
          <p:nvPr/>
        </p:nvSpPr>
        <p:spPr>
          <a:xfrm rot="0">
            <a:off x="10253413" y="2419700"/>
            <a:ext cx="6008912" cy="483666"/>
          </a:xfrm>
          <a:prstGeom prst="rect">
            <a:avLst/>
          </a:prstGeom>
        </p:spPr>
        <p:txBody>
          <a:bodyPr anchor="t" rtlCol="false" tIns="0" lIns="0" bIns="0" rIns="0">
            <a:spAutoFit/>
          </a:bodyPr>
          <a:lstStyle/>
          <a:p>
            <a:pPr algn="l">
              <a:lnSpc>
                <a:spcPts val="3665"/>
              </a:lnSpc>
            </a:pPr>
            <a:r>
              <a:rPr lang="en-US" sz="3665" b="true">
                <a:solidFill>
                  <a:srgbClr val="060606"/>
                </a:solidFill>
                <a:latin typeface="Garet Bold"/>
                <a:ea typeface="Garet Bold"/>
                <a:cs typeface="Garet Bold"/>
                <a:sym typeface="Garet Bold"/>
              </a:rPr>
              <a:t>NOTRE SOLUTION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grpSp>
        <p:nvGrpSpPr>
          <p:cNvPr name="Group 2" id="2"/>
          <p:cNvGrpSpPr/>
          <p:nvPr/>
        </p:nvGrpSpPr>
        <p:grpSpPr>
          <a:xfrm rot="0">
            <a:off x="1362571" y="2693542"/>
            <a:ext cx="5019809" cy="970831"/>
            <a:chOff x="0" y="0"/>
            <a:chExt cx="1322090" cy="255692"/>
          </a:xfrm>
        </p:grpSpPr>
        <p:sp>
          <p:nvSpPr>
            <p:cNvPr name="Freeform 3" id="3"/>
            <p:cNvSpPr/>
            <p:nvPr/>
          </p:nvSpPr>
          <p:spPr>
            <a:xfrm flipH="false" flipV="false" rot="0">
              <a:off x="0" y="0"/>
              <a:ext cx="1322090" cy="255692"/>
            </a:xfrm>
            <a:custGeom>
              <a:avLst/>
              <a:gdLst/>
              <a:ahLst/>
              <a:cxnLst/>
              <a:rect r="r" b="b" t="t" l="l"/>
              <a:pathLst>
                <a:path h="255692" w="1322090">
                  <a:moveTo>
                    <a:pt x="78656" y="0"/>
                  </a:moveTo>
                  <a:lnTo>
                    <a:pt x="1243434" y="0"/>
                  </a:lnTo>
                  <a:cubicBezTo>
                    <a:pt x="1264294" y="0"/>
                    <a:pt x="1284301" y="8287"/>
                    <a:pt x="1299052" y="23038"/>
                  </a:cubicBezTo>
                  <a:cubicBezTo>
                    <a:pt x="1313803" y="37789"/>
                    <a:pt x="1322090" y="57795"/>
                    <a:pt x="1322090" y="78656"/>
                  </a:cubicBezTo>
                  <a:lnTo>
                    <a:pt x="1322090" y="177036"/>
                  </a:lnTo>
                  <a:cubicBezTo>
                    <a:pt x="1322090" y="197897"/>
                    <a:pt x="1313803" y="217904"/>
                    <a:pt x="1299052" y="232654"/>
                  </a:cubicBezTo>
                  <a:cubicBezTo>
                    <a:pt x="1284301" y="247405"/>
                    <a:pt x="1264294" y="255692"/>
                    <a:pt x="1243434" y="255692"/>
                  </a:cubicBezTo>
                  <a:lnTo>
                    <a:pt x="78656" y="255692"/>
                  </a:lnTo>
                  <a:cubicBezTo>
                    <a:pt x="57795" y="255692"/>
                    <a:pt x="37789" y="247405"/>
                    <a:pt x="23038" y="232654"/>
                  </a:cubicBezTo>
                  <a:cubicBezTo>
                    <a:pt x="8287" y="217904"/>
                    <a:pt x="0" y="197897"/>
                    <a:pt x="0" y="177036"/>
                  </a:cubicBezTo>
                  <a:lnTo>
                    <a:pt x="0" y="78656"/>
                  </a:lnTo>
                  <a:cubicBezTo>
                    <a:pt x="0" y="57795"/>
                    <a:pt x="8287" y="37789"/>
                    <a:pt x="23038" y="23038"/>
                  </a:cubicBezTo>
                  <a:cubicBezTo>
                    <a:pt x="37789" y="8287"/>
                    <a:pt x="57795" y="0"/>
                    <a:pt x="78656" y="0"/>
                  </a:cubicBezTo>
                  <a:close/>
                </a:path>
              </a:pathLst>
            </a:custGeom>
            <a:solidFill>
              <a:srgbClr val="D0F046"/>
            </a:solidFill>
          </p:spPr>
        </p:sp>
        <p:sp>
          <p:nvSpPr>
            <p:cNvPr name="TextBox 4" id="4"/>
            <p:cNvSpPr txBox="true"/>
            <p:nvPr/>
          </p:nvSpPr>
          <p:spPr>
            <a:xfrm>
              <a:off x="0" y="-47625"/>
              <a:ext cx="1322090" cy="303317"/>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1683339" y="2896686"/>
            <a:ext cx="476894" cy="476894"/>
          </a:xfrm>
          <a:custGeom>
            <a:avLst/>
            <a:gdLst/>
            <a:ahLst/>
            <a:cxnLst/>
            <a:rect r="r" b="b" t="t" l="l"/>
            <a:pathLst>
              <a:path h="476894" w="476894">
                <a:moveTo>
                  <a:pt x="0" y="0"/>
                </a:moveTo>
                <a:lnTo>
                  <a:pt x="476894" y="0"/>
                </a:lnTo>
                <a:lnTo>
                  <a:pt x="476894" y="476894"/>
                </a:lnTo>
                <a:lnTo>
                  <a:pt x="0" y="4768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83339" y="923783"/>
            <a:ext cx="10585022" cy="1261867"/>
          </a:xfrm>
          <a:prstGeom prst="rect">
            <a:avLst/>
          </a:prstGeom>
        </p:spPr>
        <p:txBody>
          <a:bodyPr anchor="t" rtlCol="false" tIns="0" lIns="0" bIns="0" rIns="0">
            <a:spAutoFit/>
          </a:bodyPr>
          <a:lstStyle/>
          <a:p>
            <a:pPr algn="l">
              <a:lnSpc>
                <a:spcPts val="4478"/>
              </a:lnSpc>
            </a:pPr>
            <a:r>
              <a:rPr lang="en-US" sz="4478" spc="-246" b="true">
                <a:solidFill>
                  <a:srgbClr val="000000"/>
                </a:solidFill>
                <a:latin typeface="Heading Now 71-78 Bold"/>
                <a:ea typeface="Heading Now 71-78 Bold"/>
                <a:cs typeface="Heading Now 71-78 Bold"/>
                <a:sym typeface="Heading Now 71-78 Bold"/>
              </a:rPr>
              <a:t>ARCHITECTURE &amp; STACK TECHNOLOGIQUE</a:t>
            </a:r>
          </a:p>
        </p:txBody>
      </p:sp>
      <p:sp>
        <p:nvSpPr>
          <p:cNvPr name="TextBox 7" id="7"/>
          <p:cNvSpPr txBox="true"/>
          <p:nvPr/>
        </p:nvSpPr>
        <p:spPr>
          <a:xfrm rot="0">
            <a:off x="1571384" y="5334073"/>
            <a:ext cx="4281960" cy="2500868"/>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React 19 + Vite</a:t>
            </a:r>
          </a:p>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React Router DOM</a:t>
            </a:r>
          </a:p>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Chart.js / Recharts</a:t>
            </a:r>
          </a:p>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React Markdown</a:t>
            </a:r>
          </a:p>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Phosphor Icons</a:t>
            </a:r>
          </a:p>
          <a:p>
            <a:pPr algn="l">
              <a:lnSpc>
                <a:spcPts val="3359"/>
              </a:lnSpc>
            </a:pPr>
          </a:p>
        </p:txBody>
      </p:sp>
      <p:sp>
        <p:nvSpPr>
          <p:cNvPr name="TextBox 8" id="8"/>
          <p:cNvSpPr txBox="true"/>
          <p:nvPr/>
        </p:nvSpPr>
        <p:spPr>
          <a:xfrm rot="0">
            <a:off x="2352320" y="2952262"/>
            <a:ext cx="4062450" cy="405699"/>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F</a:t>
            </a:r>
            <a:r>
              <a:rPr lang="en-US" b="true" sz="2400">
                <a:solidFill>
                  <a:srgbClr val="23211F"/>
                </a:solidFill>
                <a:latin typeface="TT Firs Neue Bold"/>
                <a:ea typeface="TT Firs Neue Bold"/>
                <a:cs typeface="TT Firs Neue Bold"/>
                <a:sym typeface="TT Firs Neue Bold"/>
              </a:rPr>
              <a:t>ro</a:t>
            </a:r>
            <a:r>
              <a:rPr lang="en-US" b="true" sz="2400">
                <a:solidFill>
                  <a:srgbClr val="23211F"/>
                </a:solidFill>
                <a:latin typeface="TT Firs Neue Bold"/>
                <a:ea typeface="TT Firs Neue Bold"/>
                <a:cs typeface="TT Firs Neue Bold"/>
                <a:sym typeface="TT Firs Neue Bold"/>
              </a:rPr>
              <a:t>ntend</a:t>
            </a:r>
          </a:p>
        </p:txBody>
      </p:sp>
      <p:grpSp>
        <p:nvGrpSpPr>
          <p:cNvPr name="Group 9" id="9"/>
          <p:cNvGrpSpPr/>
          <p:nvPr/>
        </p:nvGrpSpPr>
        <p:grpSpPr>
          <a:xfrm rot="0">
            <a:off x="-1469251" y="8743950"/>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12" id="12"/>
          <p:cNvSpPr/>
          <p:nvPr/>
        </p:nvSpPr>
        <p:spPr>
          <a:xfrm flipH="false" flipV="false" rot="0">
            <a:off x="15389154" y="9342700"/>
            <a:ext cx="1737007" cy="944300"/>
          </a:xfrm>
          <a:custGeom>
            <a:avLst/>
            <a:gdLst/>
            <a:ahLst/>
            <a:cxnLst/>
            <a:rect r="r" b="b" t="t" l="l"/>
            <a:pathLst>
              <a:path h="944300" w="1737007">
                <a:moveTo>
                  <a:pt x="0" y="0"/>
                </a:moveTo>
                <a:lnTo>
                  <a:pt x="1737007" y="0"/>
                </a:lnTo>
                <a:lnTo>
                  <a:pt x="1737007" y="944300"/>
                </a:lnTo>
                <a:lnTo>
                  <a:pt x="0" y="944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6553574" y="-886466"/>
            <a:ext cx="2273306" cy="22733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6" id="16"/>
          <p:cNvGrpSpPr/>
          <p:nvPr/>
        </p:nvGrpSpPr>
        <p:grpSpPr>
          <a:xfrm rot="0">
            <a:off x="17259300" y="1564241"/>
            <a:ext cx="223911" cy="2239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0">
            <a:off x="916745" y="7887601"/>
            <a:ext cx="223911" cy="22391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22" id="22"/>
          <p:cNvGrpSpPr/>
          <p:nvPr/>
        </p:nvGrpSpPr>
        <p:grpSpPr>
          <a:xfrm rot="0">
            <a:off x="1571384" y="8177841"/>
            <a:ext cx="223911" cy="22391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25" id="25"/>
          <p:cNvGrpSpPr/>
          <p:nvPr/>
        </p:nvGrpSpPr>
        <p:grpSpPr>
          <a:xfrm rot="0">
            <a:off x="6649533" y="2693542"/>
            <a:ext cx="5283489" cy="970831"/>
            <a:chOff x="0" y="0"/>
            <a:chExt cx="1391536" cy="255692"/>
          </a:xfrm>
        </p:grpSpPr>
        <p:sp>
          <p:nvSpPr>
            <p:cNvPr name="Freeform 26" id="26"/>
            <p:cNvSpPr/>
            <p:nvPr/>
          </p:nvSpPr>
          <p:spPr>
            <a:xfrm flipH="false" flipV="false" rot="0">
              <a:off x="0" y="0"/>
              <a:ext cx="1391536" cy="255692"/>
            </a:xfrm>
            <a:custGeom>
              <a:avLst/>
              <a:gdLst/>
              <a:ahLst/>
              <a:cxnLst/>
              <a:rect r="r" b="b" t="t" l="l"/>
              <a:pathLst>
                <a:path h="255692" w="1391536">
                  <a:moveTo>
                    <a:pt x="74731" y="0"/>
                  </a:moveTo>
                  <a:lnTo>
                    <a:pt x="1316806" y="0"/>
                  </a:lnTo>
                  <a:cubicBezTo>
                    <a:pt x="1358078" y="0"/>
                    <a:pt x="1391536" y="33458"/>
                    <a:pt x="1391536" y="74731"/>
                  </a:cubicBezTo>
                  <a:lnTo>
                    <a:pt x="1391536" y="180962"/>
                  </a:lnTo>
                  <a:cubicBezTo>
                    <a:pt x="1391536" y="222234"/>
                    <a:pt x="1358078" y="255692"/>
                    <a:pt x="1316806" y="255692"/>
                  </a:cubicBezTo>
                  <a:lnTo>
                    <a:pt x="74731" y="255692"/>
                  </a:lnTo>
                  <a:cubicBezTo>
                    <a:pt x="33458" y="255692"/>
                    <a:pt x="0" y="222234"/>
                    <a:pt x="0" y="180962"/>
                  </a:cubicBezTo>
                  <a:lnTo>
                    <a:pt x="0" y="74731"/>
                  </a:lnTo>
                  <a:cubicBezTo>
                    <a:pt x="0" y="33458"/>
                    <a:pt x="33458" y="0"/>
                    <a:pt x="74731" y="0"/>
                  </a:cubicBezTo>
                  <a:close/>
                </a:path>
              </a:pathLst>
            </a:custGeom>
            <a:solidFill>
              <a:srgbClr val="D0F046"/>
            </a:solidFill>
          </p:spPr>
        </p:sp>
        <p:sp>
          <p:nvSpPr>
            <p:cNvPr name="TextBox 27" id="27"/>
            <p:cNvSpPr txBox="true"/>
            <p:nvPr/>
          </p:nvSpPr>
          <p:spPr>
            <a:xfrm>
              <a:off x="0" y="-47625"/>
              <a:ext cx="1391536" cy="303317"/>
            </a:xfrm>
            <a:prstGeom prst="rect">
              <a:avLst/>
            </a:prstGeom>
          </p:spPr>
          <p:txBody>
            <a:bodyPr anchor="ctr" rtlCol="false" tIns="50800" lIns="50800" bIns="50800" rIns="50800"/>
            <a:lstStyle/>
            <a:p>
              <a:pPr algn="ctr">
                <a:lnSpc>
                  <a:spcPts val="3360"/>
                </a:lnSpc>
              </a:pPr>
            </a:p>
          </p:txBody>
        </p:sp>
      </p:grpSp>
      <p:grpSp>
        <p:nvGrpSpPr>
          <p:cNvPr name="Group 28" id="28"/>
          <p:cNvGrpSpPr/>
          <p:nvPr/>
        </p:nvGrpSpPr>
        <p:grpSpPr>
          <a:xfrm rot="0">
            <a:off x="12199722" y="2693542"/>
            <a:ext cx="5283489" cy="970831"/>
            <a:chOff x="0" y="0"/>
            <a:chExt cx="1391536" cy="255692"/>
          </a:xfrm>
        </p:grpSpPr>
        <p:sp>
          <p:nvSpPr>
            <p:cNvPr name="Freeform 29" id="29"/>
            <p:cNvSpPr/>
            <p:nvPr/>
          </p:nvSpPr>
          <p:spPr>
            <a:xfrm flipH="false" flipV="false" rot="0">
              <a:off x="0" y="0"/>
              <a:ext cx="1391536" cy="255692"/>
            </a:xfrm>
            <a:custGeom>
              <a:avLst/>
              <a:gdLst/>
              <a:ahLst/>
              <a:cxnLst/>
              <a:rect r="r" b="b" t="t" l="l"/>
              <a:pathLst>
                <a:path h="255692" w="1391536">
                  <a:moveTo>
                    <a:pt x="74731" y="0"/>
                  </a:moveTo>
                  <a:lnTo>
                    <a:pt x="1316806" y="0"/>
                  </a:lnTo>
                  <a:cubicBezTo>
                    <a:pt x="1358078" y="0"/>
                    <a:pt x="1391536" y="33458"/>
                    <a:pt x="1391536" y="74731"/>
                  </a:cubicBezTo>
                  <a:lnTo>
                    <a:pt x="1391536" y="180962"/>
                  </a:lnTo>
                  <a:cubicBezTo>
                    <a:pt x="1391536" y="222234"/>
                    <a:pt x="1358078" y="255692"/>
                    <a:pt x="1316806" y="255692"/>
                  </a:cubicBezTo>
                  <a:lnTo>
                    <a:pt x="74731" y="255692"/>
                  </a:lnTo>
                  <a:cubicBezTo>
                    <a:pt x="33458" y="255692"/>
                    <a:pt x="0" y="222234"/>
                    <a:pt x="0" y="180962"/>
                  </a:cubicBezTo>
                  <a:lnTo>
                    <a:pt x="0" y="74731"/>
                  </a:lnTo>
                  <a:cubicBezTo>
                    <a:pt x="0" y="33458"/>
                    <a:pt x="33458" y="0"/>
                    <a:pt x="74731" y="0"/>
                  </a:cubicBezTo>
                  <a:close/>
                </a:path>
              </a:pathLst>
            </a:custGeom>
            <a:solidFill>
              <a:srgbClr val="D0F046"/>
            </a:solidFill>
          </p:spPr>
        </p:sp>
        <p:sp>
          <p:nvSpPr>
            <p:cNvPr name="TextBox 30" id="30"/>
            <p:cNvSpPr txBox="true"/>
            <p:nvPr/>
          </p:nvSpPr>
          <p:spPr>
            <a:xfrm>
              <a:off x="0" y="-47625"/>
              <a:ext cx="1391536" cy="303317"/>
            </a:xfrm>
            <a:prstGeom prst="rect">
              <a:avLst/>
            </a:prstGeom>
          </p:spPr>
          <p:txBody>
            <a:bodyPr anchor="ctr" rtlCol="false" tIns="50800" lIns="50800" bIns="50800" rIns="50800"/>
            <a:lstStyle/>
            <a:p>
              <a:pPr algn="ctr">
                <a:lnSpc>
                  <a:spcPts val="3360"/>
                </a:lnSpc>
              </a:pPr>
            </a:p>
          </p:txBody>
        </p:sp>
      </p:grpSp>
      <p:sp>
        <p:nvSpPr>
          <p:cNvPr name="Freeform 31" id="31"/>
          <p:cNvSpPr/>
          <p:nvPr/>
        </p:nvSpPr>
        <p:spPr>
          <a:xfrm flipH="false" flipV="false" rot="0">
            <a:off x="6920193" y="2940511"/>
            <a:ext cx="476894" cy="476894"/>
          </a:xfrm>
          <a:custGeom>
            <a:avLst/>
            <a:gdLst/>
            <a:ahLst/>
            <a:cxnLst/>
            <a:rect r="r" b="b" t="t" l="l"/>
            <a:pathLst>
              <a:path h="476894" w="476894">
                <a:moveTo>
                  <a:pt x="0" y="0"/>
                </a:moveTo>
                <a:lnTo>
                  <a:pt x="476893" y="0"/>
                </a:lnTo>
                <a:lnTo>
                  <a:pt x="476893" y="476893"/>
                </a:lnTo>
                <a:lnTo>
                  <a:pt x="0" y="476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12466422" y="2940511"/>
            <a:ext cx="476894" cy="476894"/>
          </a:xfrm>
          <a:custGeom>
            <a:avLst/>
            <a:gdLst/>
            <a:ahLst/>
            <a:cxnLst/>
            <a:rect r="r" b="b" t="t" l="l"/>
            <a:pathLst>
              <a:path h="476894" w="476894">
                <a:moveTo>
                  <a:pt x="0" y="0"/>
                </a:moveTo>
                <a:lnTo>
                  <a:pt x="476894" y="0"/>
                </a:lnTo>
                <a:lnTo>
                  <a:pt x="476894" y="476893"/>
                </a:lnTo>
                <a:lnTo>
                  <a:pt x="0" y="476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3" id="33"/>
          <p:cNvSpPr txBox="true"/>
          <p:nvPr/>
        </p:nvSpPr>
        <p:spPr>
          <a:xfrm rot="0">
            <a:off x="7655316" y="2952262"/>
            <a:ext cx="4062450" cy="405699"/>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Backend</a:t>
            </a:r>
          </a:p>
        </p:txBody>
      </p:sp>
      <p:sp>
        <p:nvSpPr>
          <p:cNvPr name="TextBox 34" id="34"/>
          <p:cNvSpPr txBox="true"/>
          <p:nvPr/>
        </p:nvSpPr>
        <p:spPr>
          <a:xfrm rot="0">
            <a:off x="13200491" y="2952262"/>
            <a:ext cx="4062450" cy="405765"/>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Str</a:t>
            </a:r>
            <a:r>
              <a:rPr lang="en-US" b="true" sz="2400">
                <a:solidFill>
                  <a:srgbClr val="23211F"/>
                </a:solidFill>
                <a:latin typeface="TT Firs Neue Bold"/>
                <a:ea typeface="TT Firs Neue Bold"/>
                <a:cs typeface="TT Firs Neue Bold"/>
                <a:sym typeface="TT Firs Neue Bold"/>
              </a:rPr>
              <a:t>ength Workouts</a:t>
            </a:r>
          </a:p>
        </p:txBody>
      </p:sp>
      <p:sp>
        <p:nvSpPr>
          <p:cNvPr name="TextBox 35" id="35"/>
          <p:cNvSpPr txBox="true"/>
          <p:nvPr/>
        </p:nvSpPr>
        <p:spPr>
          <a:xfrm rot="0">
            <a:off x="6975851" y="5204065"/>
            <a:ext cx="4281960" cy="2500868"/>
          </a:xfrm>
          <a:prstGeom prst="rect">
            <a:avLst/>
          </a:prstGeom>
        </p:spPr>
        <p:txBody>
          <a:bodyPr anchor="t" rtlCol="false" tIns="0" lIns="0" bIns="0" rIns="0">
            <a:spAutoFit/>
          </a:bodyPr>
          <a:lstStyle/>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FastAPI (Python)</a:t>
            </a:r>
          </a:p>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Uvicorn ASGI</a:t>
            </a:r>
          </a:p>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Motor / PyMongo</a:t>
            </a:r>
          </a:p>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Pydantic</a:t>
            </a:r>
          </a:p>
          <a:p>
            <a:pPr algn="l" marL="518158" indent="-259079" lvl="1">
              <a:lnSpc>
                <a:spcPts val="3359"/>
              </a:lnSpc>
              <a:buFont typeface="Arial"/>
              <a:buChar char="•"/>
            </a:pPr>
            <a:r>
              <a:rPr lang="en-US" b="true" sz="2399">
                <a:solidFill>
                  <a:srgbClr val="23211F"/>
                </a:solidFill>
                <a:latin typeface="TT Firs Neue Bold"/>
                <a:ea typeface="TT Firs Neue Bold"/>
                <a:cs typeface="TT Firs Neue Bold"/>
                <a:sym typeface="TT Firs Neue Bold"/>
              </a:rPr>
              <a:t>Python-Jose + Passlib</a:t>
            </a:r>
          </a:p>
          <a:p>
            <a:pPr algn="l">
              <a:lnSpc>
                <a:spcPts val="3359"/>
              </a:lnSpc>
            </a:pPr>
          </a:p>
        </p:txBody>
      </p:sp>
      <p:sp>
        <p:nvSpPr>
          <p:cNvPr name="TextBox 36" id="36"/>
          <p:cNvSpPr txBox="true"/>
          <p:nvPr/>
        </p:nvSpPr>
        <p:spPr>
          <a:xfrm rot="0">
            <a:off x="12466422" y="5095875"/>
            <a:ext cx="4281960" cy="2500868"/>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a:solidFill>
                  <a:srgbClr val="23211F"/>
                </a:solidFill>
                <a:latin typeface="TT Firs Neue Bold"/>
                <a:ea typeface="TT Firs Neue Bold"/>
                <a:cs typeface="TT Firs Neue Bold"/>
                <a:sym typeface="TT Firs Neue Bold"/>
              </a:rPr>
              <a:t>Google Gemini LLM</a:t>
            </a:r>
          </a:p>
          <a:p>
            <a:pPr algn="l" marL="518160" indent="-259080" lvl="1">
              <a:lnSpc>
                <a:spcPts val="3359"/>
              </a:lnSpc>
              <a:buFont typeface="Arial"/>
              <a:buChar char="•"/>
            </a:pPr>
            <a:r>
              <a:rPr lang="en-US" b="true" sz="2400">
                <a:solidFill>
                  <a:srgbClr val="23211F"/>
                </a:solidFill>
                <a:latin typeface="TT Firs Neue Bold"/>
                <a:ea typeface="TT Firs Neue Bold"/>
                <a:cs typeface="TT Firs Neue Bold"/>
                <a:sym typeface="TT Firs Neue Bold"/>
              </a:rPr>
              <a:t>RAG Pipeline</a:t>
            </a:r>
          </a:p>
          <a:p>
            <a:pPr algn="l" marL="518160" indent="-259080" lvl="1">
              <a:lnSpc>
                <a:spcPts val="3359"/>
              </a:lnSpc>
              <a:buFont typeface="Arial"/>
              <a:buChar char="•"/>
            </a:pPr>
            <a:r>
              <a:rPr lang="en-US" b="true" sz="2400">
                <a:solidFill>
                  <a:srgbClr val="23211F"/>
                </a:solidFill>
                <a:latin typeface="TT Firs Neue Bold"/>
                <a:ea typeface="TT Firs Neue Bold"/>
                <a:cs typeface="TT Firs Neue Bold"/>
                <a:sym typeface="TT Firs Neue Bold"/>
              </a:rPr>
              <a:t>MongoDB NoSQL</a:t>
            </a:r>
          </a:p>
          <a:p>
            <a:pPr algn="l" marL="518160" indent="-259080" lvl="1">
              <a:lnSpc>
                <a:spcPts val="3359"/>
              </a:lnSpc>
              <a:buFont typeface="Arial"/>
              <a:buChar char="•"/>
            </a:pPr>
            <a:r>
              <a:rPr lang="en-US" b="true" sz="2400">
                <a:solidFill>
                  <a:srgbClr val="23211F"/>
                </a:solidFill>
                <a:latin typeface="TT Firs Neue Bold"/>
                <a:ea typeface="TT Firs Neue Bold"/>
                <a:cs typeface="TT Firs Neue Bold"/>
                <a:sym typeface="TT Firs Neue Bold"/>
              </a:rPr>
              <a:t>JSON Data Store</a:t>
            </a:r>
          </a:p>
          <a:p>
            <a:pPr algn="l" marL="518160" indent="-259080" lvl="1">
              <a:lnSpc>
                <a:spcPts val="3359"/>
              </a:lnSpc>
              <a:buFont typeface="Arial"/>
              <a:buChar char="•"/>
            </a:pPr>
            <a:r>
              <a:rPr lang="en-US" b="true" sz="2400">
                <a:solidFill>
                  <a:srgbClr val="23211F"/>
                </a:solidFill>
                <a:latin typeface="TT Firs Neue Bold"/>
                <a:ea typeface="TT Firs Neue Bold"/>
                <a:cs typeface="TT Firs Neue Bold"/>
                <a:sym typeface="TT Firs Neue Bold"/>
              </a:rPr>
              <a:t>NLP Services</a:t>
            </a:r>
          </a:p>
          <a:p>
            <a:pPr algn="l">
              <a:lnSpc>
                <a:spcPts val="33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sp>
        <p:nvSpPr>
          <p:cNvPr name="AutoShape 2" id="2"/>
          <p:cNvSpPr/>
          <p:nvPr/>
        </p:nvSpPr>
        <p:spPr>
          <a:xfrm flipH="true" flipV="true">
            <a:off x="9146359" y="61953"/>
            <a:ext cx="0" cy="10287000"/>
          </a:xfrm>
          <a:prstGeom prst="line">
            <a:avLst/>
          </a:prstGeom>
          <a:ln cap="flat" w="38100">
            <a:solidFill>
              <a:srgbClr val="57595F">
                <a:alpha val="9804"/>
              </a:srgbClr>
            </a:solidFill>
            <a:prstDash val="solid"/>
            <a:headEnd type="none" len="sm" w="sm"/>
            <a:tailEnd type="none" len="sm" w="sm"/>
          </a:ln>
        </p:spPr>
      </p:sp>
      <p:sp>
        <p:nvSpPr>
          <p:cNvPr name="AutoShape 3" id="3"/>
          <p:cNvSpPr/>
          <p:nvPr/>
        </p:nvSpPr>
        <p:spPr>
          <a:xfrm flipV="true">
            <a:off x="11703866" y="0"/>
            <a:ext cx="0" cy="10348953"/>
          </a:xfrm>
          <a:prstGeom prst="line">
            <a:avLst/>
          </a:prstGeom>
          <a:ln cap="flat" w="38100">
            <a:solidFill>
              <a:srgbClr val="57595F">
                <a:alpha val="9804"/>
              </a:srgbClr>
            </a:solidFill>
            <a:prstDash val="solid"/>
            <a:headEnd type="none" len="sm" w="sm"/>
            <a:tailEnd type="none" len="sm" w="sm"/>
          </a:ln>
        </p:spPr>
      </p:sp>
      <p:sp>
        <p:nvSpPr>
          <p:cNvPr name="AutoShape 4" id="4"/>
          <p:cNvSpPr/>
          <p:nvPr/>
        </p:nvSpPr>
        <p:spPr>
          <a:xfrm flipV="true">
            <a:off x="14261372" y="-61953"/>
            <a:ext cx="0" cy="10410906"/>
          </a:xfrm>
          <a:prstGeom prst="line">
            <a:avLst/>
          </a:prstGeom>
          <a:ln cap="flat" w="38100">
            <a:solidFill>
              <a:srgbClr val="57595F">
                <a:alpha val="9804"/>
              </a:srgbClr>
            </a:solidFill>
            <a:prstDash val="solid"/>
            <a:headEnd type="none" len="sm" w="sm"/>
            <a:tailEnd type="none" len="sm" w="sm"/>
          </a:ln>
        </p:spPr>
      </p:sp>
      <p:sp>
        <p:nvSpPr>
          <p:cNvPr name="AutoShape 5" id="5"/>
          <p:cNvSpPr/>
          <p:nvPr/>
        </p:nvSpPr>
        <p:spPr>
          <a:xfrm flipV="true">
            <a:off x="16818879" y="-123906"/>
            <a:ext cx="0" cy="10472859"/>
          </a:xfrm>
          <a:prstGeom prst="line">
            <a:avLst/>
          </a:prstGeom>
          <a:ln cap="flat" w="38100">
            <a:solidFill>
              <a:srgbClr val="57595F">
                <a:alpha val="9804"/>
              </a:srgbClr>
            </a:solidFill>
            <a:prstDash val="solid"/>
            <a:headEnd type="none" len="sm" w="sm"/>
            <a:tailEnd type="none" len="sm" w="sm"/>
          </a:ln>
        </p:spPr>
      </p:sp>
      <p:sp>
        <p:nvSpPr>
          <p:cNvPr name="AutoShape 6" id="6"/>
          <p:cNvSpPr/>
          <p:nvPr/>
        </p:nvSpPr>
        <p:spPr>
          <a:xfrm flipH="true" flipV="true">
            <a:off x="1469121" y="0"/>
            <a:ext cx="0" cy="10287000"/>
          </a:xfrm>
          <a:prstGeom prst="line">
            <a:avLst/>
          </a:prstGeom>
          <a:ln cap="flat" w="38100">
            <a:solidFill>
              <a:srgbClr val="57595F">
                <a:alpha val="9804"/>
              </a:srgbClr>
            </a:solidFill>
            <a:prstDash val="solid"/>
            <a:headEnd type="none" len="sm" w="sm"/>
            <a:tailEnd type="none" len="sm" w="sm"/>
          </a:ln>
        </p:spPr>
      </p:sp>
      <p:sp>
        <p:nvSpPr>
          <p:cNvPr name="AutoShape 7" id="7"/>
          <p:cNvSpPr/>
          <p:nvPr/>
        </p:nvSpPr>
        <p:spPr>
          <a:xfrm flipV="true">
            <a:off x="4026628" y="-61953"/>
            <a:ext cx="0" cy="10348953"/>
          </a:xfrm>
          <a:prstGeom prst="line">
            <a:avLst/>
          </a:prstGeom>
          <a:ln cap="flat" w="38100">
            <a:solidFill>
              <a:srgbClr val="57595F">
                <a:alpha val="9804"/>
              </a:srgbClr>
            </a:solidFill>
            <a:prstDash val="solid"/>
            <a:headEnd type="none" len="sm" w="sm"/>
            <a:tailEnd type="none" len="sm" w="sm"/>
          </a:ln>
        </p:spPr>
      </p:sp>
      <p:sp>
        <p:nvSpPr>
          <p:cNvPr name="AutoShape 8" id="8"/>
          <p:cNvSpPr/>
          <p:nvPr/>
        </p:nvSpPr>
        <p:spPr>
          <a:xfrm flipV="true">
            <a:off x="6584134" y="-123906"/>
            <a:ext cx="0" cy="10410906"/>
          </a:xfrm>
          <a:prstGeom prst="line">
            <a:avLst/>
          </a:prstGeom>
          <a:ln cap="flat" w="38100">
            <a:solidFill>
              <a:srgbClr val="57595F">
                <a:alpha val="9804"/>
              </a:srgbClr>
            </a:solidFill>
            <a:prstDash val="solid"/>
            <a:headEnd type="none" len="sm" w="sm"/>
            <a:tailEnd type="none" len="sm" w="sm"/>
          </a:ln>
        </p:spPr>
      </p:sp>
      <p:sp>
        <p:nvSpPr>
          <p:cNvPr name="AutoShape 9" id="9"/>
          <p:cNvSpPr/>
          <p:nvPr/>
        </p:nvSpPr>
        <p:spPr>
          <a:xfrm>
            <a:off x="1469121" y="2589529"/>
            <a:ext cx="733088" cy="0"/>
          </a:xfrm>
          <a:prstGeom prst="line">
            <a:avLst/>
          </a:prstGeom>
          <a:ln cap="rnd" w="76200">
            <a:solidFill>
              <a:srgbClr val="E42119"/>
            </a:solidFill>
            <a:prstDash val="solid"/>
            <a:headEnd type="none" len="sm" w="sm"/>
            <a:tailEnd type="none" len="sm" w="sm"/>
          </a:ln>
        </p:spPr>
      </p:sp>
      <p:grpSp>
        <p:nvGrpSpPr>
          <p:cNvPr name="Group 10" id="10"/>
          <p:cNvGrpSpPr/>
          <p:nvPr/>
        </p:nvGrpSpPr>
        <p:grpSpPr>
          <a:xfrm rot="0">
            <a:off x="0" y="9901821"/>
            <a:ext cx="18288000" cy="385179"/>
            <a:chOff x="0" y="0"/>
            <a:chExt cx="4816593" cy="101446"/>
          </a:xfrm>
        </p:grpSpPr>
        <p:sp>
          <p:nvSpPr>
            <p:cNvPr name="Freeform 11" id="11"/>
            <p:cNvSpPr/>
            <p:nvPr/>
          </p:nvSpPr>
          <p:spPr>
            <a:xfrm flipH="false" flipV="false" rot="0">
              <a:off x="0" y="0"/>
              <a:ext cx="4816592" cy="101446"/>
            </a:xfrm>
            <a:custGeom>
              <a:avLst/>
              <a:gdLst/>
              <a:ahLst/>
              <a:cxnLst/>
              <a:rect r="r" b="b" t="t" l="l"/>
              <a:pathLst>
                <a:path h="101446" w="4816592">
                  <a:moveTo>
                    <a:pt x="0" y="0"/>
                  </a:moveTo>
                  <a:lnTo>
                    <a:pt x="4816592" y="0"/>
                  </a:lnTo>
                  <a:lnTo>
                    <a:pt x="4816592" y="101446"/>
                  </a:lnTo>
                  <a:lnTo>
                    <a:pt x="0" y="101446"/>
                  </a:lnTo>
                  <a:close/>
                </a:path>
              </a:pathLst>
            </a:custGeom>
            <a:gradFill rotWithShape="true">
              <a:gsLst>
                <a:gs pos="0">
                  <a:srgbClr val="4F4F4F">
                    <a:alpha val="100000"/>
                  </a:srgbClr>
                </a:gs>
                <a:gs pos="100000">
                  <a:srgbClr val="2C2C2C">
                    <a:alpha val="100000"/>
                  </a:srgbClr>
                </a:gs>
              </a:gsLst>
              <a:path path="circle">
                <a:fillToRect l="0" r="100000" t="0" b="100000"/>
              </a:path>
              <a:tileRect r="0" l="-100000" b="0" t="-100000"/>
            </a:gradFill>
          </p:spPr>
        </p:sp>
        <p:sp>
          <p:nvSpPr>
            <p:cNvPr name="TextBox 12" id="12"/>
            <p:cNvSpPr txBox="true"/>
            <p:nvPr/>
          </p:nvSpPr>
          <p:spPr>
            <a:xfrm>
              <a:off x="0" y="-38100"/>
              <a:ext cx="4816593" cy="139546"/>
            </a:xfrm>
            <a:prstGeom prst="rect">
              <a:avLst/>
            </a:prstGeom>
          </p:spPr>
          <p:txBody>
            <a:bodyPr anchor="ctr" rtlCol="false" tIns="50800" lIns="50800" bIns="50800" rIns="50800"/>
            <a:lstStyle/>
            <a:p>
              <a:pPr algn="ctr">
                <a:lnSpc>
                  <a:spcPts val="3079"/>
                </a:lnSpc>
              </a:pPr>
            </a:p>
          </p:txBody>
        </p:sp>
      </p:grpSp>
      <p:grpSp>
        <p:nvGrpSpPr>
          <p:cNvPr name="Group 13" id="13"/>
          <p:cNvGrpSpPr/>
          <p:nvPr/>
        </p:nvGrpSpPr>
        <p:grpSpPr>
          <a:xfrm rot="0">
            <a:off x="-2332276" y="-802620"/>
            <a:ext cx="6060259" cy="2258699"/>
            <a:chOff x="0" y="0"/>
            <a:chExt cx="1596118" cy="594884"/>
          </a:xfrm>
        </p:grpSpPr>
        <p:sp>
          <p:nvSpPr>
            <p:cNvPr name="Freeform 14" id="14"/>
            <p:cNvSpPr/>
            <p:nvPr/>
          </p:nvSpPr>
          <p:spPr>
            <a:xfrm flipH="false" flipV="false" rot="0">
              <a:off x="0" y="0"/>
              <a:ext cx="1596118" cy="594884"/>
            </a:xfrm>
            <a:custGeom>
              <a:avLst/>
              <a:gdLst/>
              <a:ahLst/>
              <a:cxnLst/>
              <a:rect r="r" b="b" t="t" l="l"/>
              <a:pathLst>
                <a:path h="594884" w="1596118">
                  <a:moveTo>
                    <a:pt x="0" y="0"/>
                  </a:moveTo>
                  <a:lnTo>
                    <a:pt x="1596118" y="0"/>
                  </a:lnTo>
                  <a:lnTo>
                    <a:pt x="1596118" y="594884"/>
                  </a:lnTo>
                  <a:lnTo>
                    <a:pt x="0" y="594884"/>
                  </a:lnTo>
                  <a:close/>
                </a:path>
              </a:pathLst>
            </a:custGeom>
            <a:solidFill>
              <a:srgbClr val="D0F046"/>
            </a:solidFill>
          </p:spPr>
        </p:sp>
        <p:sp>
          <p:nvSpPr>
            <p:cNvPr name="TextBox 15" id="15"/>
            <p:cNvSpPr txBox="true"/>
            <p:nvPr/>
          </p:nvSpPr>
          <p:spPr>
            <a:xfrm>
              <a:off x="0" y="-38100"/>
              <a:ext cx="1596118" cy="632984"/>
            </a:xfrm>
            <a:prstGeom prst="rect">
              <a:avLst/>
            </a:prstGeom>
          </p:spPr>
          <p:txBody>
            <a:bodyPr anchor="ctr" rtlCol="false" tIns="50800" lIns="50800" bIns="50800" rIns="50800"/>
            <a:lstStyle/>
            <a:p>
              <a:pPr algn="ctr">
                <a:lnSpc>
                  <a:spcPts val="3079"/>
                </a:lnSpc>
              </a:pPr>
            </a:p>
          </p:txBody>
        </p:sp>
      </p:grpSp>
      <p:sp>
        <p:nvSpPr>
          <p:cNvPr name="Freeform 16" id="16"/>
          <p:cNvSpPr/>
          <p:nvPr/>
        </p:nvSpPr>
        <p:spPr>
          <a:xfrm flipH="false" flipV="false" rot="0">
            <a:off x="7196713" y="4866800"/>
            <a:ext cx="8099633" cy="2638048"/>
          </a:xfrm>
          <a:custGeom>
            <a:avLst/>
            <a:gdLst/>
            <a:ahLst/>
            <a:cxnLst/>
            <a:rect r="r" b="b" t="t" l="l"/>
            <a:pathLst>
              <a:path h="2638048" w="8099633">
                <a:moveTo>
                  <a:pt x="0" y="0"/>
                </a:moveTo>
                <a:lnTo>
                  <a:pt x="8099633" y="0"/>
                </a:lnTo>
                <a:lnTo>
                  <a:pt x="8099633" y="2638048"/>
                </a:lnTo>
                <a:lnTo>
                  <a:pt x="0" y="2638048"/>
                </a:lnTo>
                <a:lnTo>
                  <a:pt x="0" y="0"/>
                </a:lnTo>
                <a:close/>
              </a:path>
            </a:pathLst>
          </a:custGeom>
          <a:blipFill>
            <a:blip r:embed="rId2"/>
            <a:stretch>
              <a:fillRect l="0" t="0" r="0" b="0"/>
            </a:stretch>
          </a:blipFill>
        </p:spPr>
      </p:sp>
      <p:sp>
        <p:nvSpPr>
          <p:cNvPr name="TextBox 17" id="17"/>
          <p:cNvSpPr txBox="true"/>
          <p:nvPr/>
        </p:nvSpPr>
        <p:spPr>
          <a:xfrm rot="0">
            <a:off x="1469121" y="1723204"/>
            <a:ext cx="8131309" cy="666300"/>
          </a:xfrm>
          <a:prstGeom prst="rect">
            <a:avLst/>
          </a:prstGeom>
        </p:spPr>
        <p:txBody>
          <a:bodyPr anchor="t" rtlCol="false" tIns="0" lIns="0" bIns="0" rIns="0">
            <a:spAutoFit/>
          </a:bodyPr>
          <a:lstStyle/>
          <a:p>
            <a:pPr algn="l">
              <a:lnSpc>
                <a:spcPts val="5074"/>
              </a:lnSpc>
            </a:pPr>
            <a:r>
              <a:rPr lang="en-US" sz="5074" b="true">
                <a:solidFill>
                  <a:srgbClr val="060606"/>
                </a:solidFill>
                <a:latin typeface="Garet Bold"/>
                <a:ea typeface="Garet Bold"/>
                <a:cs typeface="Garet Bold"/>
                <a:sym typeface="Garet Bold"/>
              </a:rPr>
              <a:t>Le Processus RAG &amp; LLM</a:t>
            </a:r>
          </a:p>
        </p:txBody>
      </p:sp>
      <p:sp>
        <p:nvSpPr>
          <p:cNvPr name="TextBox 18" id="18"/>
          <p:cNvSpPr txBox="true"/>
          <p:nvPr/>
        </p:nvSpPr>
        <p:spPr>
          <a:xfrm rot="0">
            <a:off x="1469121" y="2994671"/>
            <a:ext cx="15349758" cy="1737709"/>
          </a:xfrm>
          <a:prstGeom prst="rect">
            <a:avLst/>
          </a:prstGeom>
        </p:spPr>
        <p:txBody>
          <a:bodyPr anchor="t" rtlCol="false" tIns="0" lIns="0" bIns="0" rIns="0">
            <a:spAutoFit/>
          </a:bodyPr>
          <a:lstStyle/>
          <a:p>
            <a:pPr algn="just" marL="0" indent="0" lvl="0">
              <a:lnSpc>
                <a:spcPts val="2719"/>
              </a:lnSpc>
            </a:pPr>
            <a:r>
              <a:rPr lang="en-US" sz="2719">
                <a:solidFill>
                  <a:srgbClr val="060606"/>
                </a:solidFill>
                <a:latin typeface="Roboto"/>
                <a:ea typeface="Roboto"/>
                <a:cs typeface="Roboto"/>
                <a:sym typeface="Roboto"/>
              </a:rPr>
              <a:t>Notre chatbot fonctionne grâce à l’approche RAG, un système performant qui prend la requête de l’utilisateur pour aller chercher instantanément les données correspondantes dans une base locale de plus de 1000 exercices JSON. Ce contexte extrait est ensuite transmis au LLM Gemini, qui formule une réponse sur mesure, fluide et illustrée par des GIFs ou images pour une parfaite compréhension du mouvement.</a:t>
            </a:r>
          </a:p>
        </p:txBody>
      </p:sp>
      <p:sp>
        <p:nvSpPr>
          <p:cNvPr name="TextBox 19" id="19"/>
          <p:cNvSpPr txBox="true"/>
          <p:nvPr/>
        </p:nvSpPr>
        <p:spPr>
          <a:xfrm rot="0">
            <a:off x="1469121" y="7864065"/>
            <a:ext cx="15347399" cy="2037756"/>
          </a:xfrm>
          <a:prstGeom prst="rect">
            <a:avLst/>
          </a:prstGeom>
        </p:spPr>
        <p:txBody>
          <a:bodyPr anchor="t" rtlCol="false" tIns="0" lIns="0" bIns="0" rIns="0">
            <a:spAutoFit/>
          </a:bodyPr>
          <a:lstStyle/>
          <a:p>
            <a:pPr algn="just">
              <a:lnSpc>
                <a:spcPts val="2666"/>
              </a:lnSpc>
            </a:pPr>
          </a:p>
          <a:p>
            <a:pPr algn="just">
              <a:lnSpc>
                <a:spcPts val="2666"/>
              </a:lnSpc>
            </a:pPr>
            <a:r>
              <a:rPr lang="en-US" sz="2666">
                <a:solidFill>
                  <a:srgbClr val="060606"/>
                </a:solidFill>
                <a:latin typeface="Roboto"/>
                <a:ea typeface="Roboto"/>
                <a:cs typeface="Roboto"/>
                <a:sym typeface="Roboto"/>
              </a:rPr>
              <a:t>En éliminant l'hallucination de l'IA, ce mécanisme assure une précision chirurgicale sur chaque exercice proposé. L'utilisateur bénéficie d'une rapidité optimale avec des réponses générées en moins de 2 secondes, tandis que la structure locale du projet permet une mise à jour simple et continue de la base sportive.</a:t>
            </a:r>
          </a:p>
          <a:p>
            <a:pPr algn="just" marL="0" indent="0" lvl="0">
              <a:lnSpc>
                <a:spcPts val="2666"/>
              </a:lnSpc>
            </a:pPr>
          </a:p>
        </p:txBody>
      </p:sp>
      <p:sp>
        <p:nvSpPr>
          <p:cNvPr name="TextBox 20" id="20"/>
          <p:cNvSpPr txBox="true"/>
          <p:nvPr/>
        </p:nvSpPr>
        <p:spPr>
          <a:xfrm rot="0">
            <a:off x="1469121" y="7686893"/>
            <a:ext cx="7214129" cy="325769"/>
          </a:xfrm>
          <a:prstGeom prst="rect">
            <a:avLst/>
          </a:prstGeom>
        </p:spPr>
        <p:txBody>
          <a:bodyPr anchor="t" rtlCol="false" tIns="0" lIns="0" bIns="0" rIns="0">
            <a:spAutoFit/>
          </a:bodyPr>
          <a:lstStyle/>
          <a:p>
            <a:pPr algn="l">
              <a:lnSpc>
                <a:spcPts val="2457"/>
              </a:lnSpc>
            </a:pPr>
            <a:r>
              <a:rPr lang="en-US" sz="2457" b="true">
                <a:solidFill>
                  <a:srgbClr val="060606"/>
                </a:solidFill>
                <a:latin typeface="Garet Bold"/>
                <a:ea typeface="Garet Bold"/>
                <a:cs typeface="Garet Bold"/>
                <a:sym typeface="Garet Bold"/>
              </a:rPr>
              <a:t>Pourquoi cette approche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0F046"/>
        </a:solidFill>
      </p:bgPr>
    </p:bg>
    <p:spTree>
      <p:nvGrpSpPr>
        <p:cNvPr id="1" name=""/>
        <p:cNvGrpSpPr/>
        <p:nvPr/>
      </p:nvGrpSpPr>
      <p:grpSpPr>
        <a:xfrm>
          <a:off x="0" y="0"/>
          <a:ext cx="0" cy="0"/>
          <a:chOff x="0" y="0"/>
          <a:chExt cx="0" cy="0"/>
        </a:xfrm>
      </p:grpSpPr>
      <p:grpSp>
        <p:nvGrpSpPr>
          <p:cNvPr name="Group 2" id="2"/>
          <p:cNvGrpSpPr/>
          <p:nvPr/>
        </p:nvGrpSpPr>
        <p:grpSpPr>
          <a:xfrm rot="0">
            <a:off x="11886882" y="558778"/>
            <a:ext cx="4596050" cy="8327889"/>
            <a:chOff x="0" y="0"/>
            <a:chExt cx="647111" cy="1172544"/>
          </a:xfrm>
        </p:grpSpPr>
        <p:sp>
          <p:nvSpPr>
            <p:cNvPr name="Freeform 3" id="3"/>
            <p:cNvSpPr/>
            <p:nvPr/>
          </p:nvSpPr>
          <p:spPr>
            <a:xfrm flipH="false" flipV="false" rot="0">
              <a:off x="0" y="0"/>
              <a:ext cx="647111" cy="1172544"/>
            </a:xfrm>
            <a:custGeom>
              <a:avLst/>
              <a:gdLst/>
              <a:ahLst/>
              <a:cxnLst/>
              <a:rect r="r" b="b" t="t" l="l"/>
              <a:pathLst>
                <a:path h="1172544" w="647111">
                  <a:moveTo>
                    <a:pt x="58957" y="0"/>
                  </a:moveTo>
                  <a:lnTo>
                    <a:pt x="588155" y="0"/>
                  </a:lnTo>
                  <a:cubicBezTo>
                    <a:pt x="620716" y="0"/>
                    <a:pt x="647111" y="26396"/>
                    <a:pt x="647111" y="58957"/>
                  </a:cubicBezTo>
                  <a:lnTo>
                    <a:pt x="647111" y="1113588"/>
                  </a:lnTo>
                  <a:cubicBezTo>
                    <a:pt x="647111" y="1146148"/>
                    <a:pt x="620716" y="1172544"/>
                    <a:pt x="588155" y="1172544"/>
                  </a:cubicBezTo>
                  <a:lnTo>
                    <a:pt x="58957" y="1172544"/>
                  </a:lnTo>
                  <a:cubicBezTo>
                    <a:pt x="26396" y="1172544"/>
                    <a:pt x="0" y="1146148"/>
                    <a:pt x="0" y="1113588"/>
                  </a:cubicBezTo>
                  <a:lnTo>
                    <a:pt x="0" y="58957"/>
                  </a:lnTo>
                  <a:cubicBezTo>
                    <a:pt x="0" y="26396"/>
                    <a:pt x="26396" y="0"/>
                    <a:pt x="58957" y="0"/>
                  </a:cubicBezTo>
                  <a:close/>
                </a:path>
              </a:pathLst>
            </a:custGeom>
            <a:blipFill>
              <a:blip r:embed="rId2"/>
              <a:stretch>
                <a:fillRect l="-1240" t="0" r="-1240" b="0"/>
              </a:stretch>
            </a:blipFill>
          </p:spPr>
        </p:sp>
      </p:grpSp>
      <p:grpSp>
        <p:nvGrpSpPr>
          <p:cNvPr name="Group 4" id="4"/>
          <p:cNvGrpSpPr/>
          <p:nvPr/>
        </p:nvGrpSpPr>
        <p:grpSpPr>
          <a:xfrm rot="0">
            <a:off x="316608" y="5913093"/>
            <a:ext cx="6297761" cy="2973574"/>
            <a:chOff x="0" y="0"/>
            <a:chExt cx="1054668" cy="497976"/>
          </a:xfrm>
        </p:grpSpPr>
        <p:sp>
          <p:nvSpPr>
            <p:cNvPr name="Freeform 5" id="5"/>
            <p:cNvSpPr/>
            <p:nvPr/>
          </p:nvSpPr>
          <p:spPr>
            <a:xfrm flipH="false" flipV="false" rot="0">
              <a:off x="0" y="0"/>
              <a:ext cx="1054668" cy="497976"/>
            </a:xfrm>
            <a:custGeom>
              <a:avLst/>
              <a:gdLst/>
              <a:ahLst/>
              <a:cxnLst/>
              <a:rect r="r" b="b" t="t" l="l"/>
              <a:pathLst>
                <a:path h="497976" w="1054668">
                  <a:moveTo>
                    <a:pt x="43026" y="0"/>
                  </a:moveTo>
                  <a:lnTo>
                    <a:pt x="1011642" y="0"/>
                  </a:lnTo>
                  <a:cubicBezTo>
                    <a:pt x="1035404" y="0"/>
                    <a:pt x="1054668" y="19263"/>
                    <a:pt x="1054668" y="43026"/>
                  </a:cubicBezTo>
                  <a:lnTo>
                    <a:pt x="1054668" y="454950"/>
                  </a:lnTo>
                  <a:cubicBezTo>
                    <a:pt x="1054668" y="466361"/>
                    <a:pt x="1050135" y="477305"/>
                    <a:pt x="1042066" y="485374"/>
                  </a:cubicBezTo>
                  <a:cubicBezTo>
                    <a:pt x="1033997" y="493443"/>
                    <a:pt x="1023053" y="497976"/>
                    <a:pt x="1011642" y="497976"/>
                  </a:cubicBezTo>
                  <a:lnTo>
                    <a:pt x="43026" y="497976"/>
                  </a:lnTo>
                  <a:cubicBezTo>
                    <a:pt x="31615" y="497976"/>
                    <a:pt x="20671" y="493443"/>
                    <a:pt x="12602" y="485374"/>
                  </a:cubicBezTo>
                  <a:cubicBezTo>
                    <a:pt x="4533" y="477305"/>
                    <a:pt x="0" y="466361"/>
                    <a:pt x="0" y="454950"/>
                  </a:cubicBezTo>
                  <a:lnTo>
                    <a:pt x="0" y="43026"/>
                  </a:lnTo>
                  <a:cubicBezTo>
                    <a:pt x="0" y="31615"/>
                    <a:pt x="4533" y="20671"/>
                    <a:pt x="12602" y="12602"/>
                  </a:cubicBezTo>
                  <a:cubicBezTo>
                    <a:pt x="20671" y="4533"/>
                    <a:pt x="31615" y="0"/>
                    <a:pt x="43026" y="0"/>
                  </a:cubicBezTo>
                  <a:close/>
                </a:path>
              </a:pathLst>
            </a:custGeom>
            <a:blipFill>
              <a:blip r:embed="rId3"/>
              <a:stretch>
                <a:fillRect l="0" t="-2218" r="-9276" b="-2218"/>
              </a:stretch>
            </a:blipFill>
          </p:spPr>
        </p:sp>
      </p:grpSp>
      <p:grpSp>
        <p:nvGrpSpPr>
          <p:cNvPr name="Group 6" id="6"/>
          <p:cNvGrpSpPr/>
          <p:nvPr/>
        </p:nvGrpSpPr>
        <p:grpSpPr>
          <a:xfrm rot="0">
            <a:off x="6799299" y="558778"/>
            <a:ext cx="4719304" cy="8327889"/>
            <a:chOff x="0" y="0"/>
            <a:chExt cx="731144" cy="1290208"/>
          </a:xfrm>
        </p:grpSpPr>
        <p:sp>
          <p:nvSpPr>
            <p:cNvPr name="Freeform 7" id="7"/>
            <p:cNvSpPr/>
            <p:nvPr/>
          </p:nvSpPr>
          <p:spPr>
            <a:xfrm flipH="false" flipV="false" rot="0">
              <a:off x="0" y="0"/>
              <a:ext cx="731144" cy="1290208"/>
            </a:xfrm>
            <a:custGeom>
              <a:avLst/>
              <a:gdLst/>
              <a:ahLst/>
              <a:cxnLst/>
              <a:rect r="r" b="b" t="t" l="l"/>
              <a:pathLst>
                <a:path h="1290208" w="731144">
                  <a:moveTo>
                    <a:pt x="57417" y="0"/>
                  </a:moveTo>
                  <a:lnTo>
                    <a:pt x="673727" y="0"/>
                  </a:lnTo>
                  <a:cubicBezTo>
                    <a:pt x="688955" y="0"/>
                    <a:pt x="703559" y="6049"/>
                    <a:pt x="714327" y="16817"/>
                  </a:cubicBezTo>
                  <a:cubicBezTo>
                    <a:pt x="725094" y="27585"/>
                    <a:pt x="731144" y="42189"/>
                    <a:pt x="731144" y="57417"/>
                  </a:cubicBezTo>
                  <a:lnTo>
                    <a:pt x="731144" y="1232791"/>
                  </a:lnTo>
                  <a:cubicBezTo>
                    <a:pt x="731144" y="1264502"/>
                    <a:pt x="705437" y="1290208"/>
                    <a:pt x="673727" y="1290208"/>
                  </a:cubicBezTo>
                  <a:lnTo>
                    <a:pt x="57417" y="1290208"/>
                  </a:lnTo>
                  <a:cubicBezTo>
                    <a:pt x="42189" y="1290208"/>
                    <a:pt x="27585" y="1284159"/>
                    <a:pt x="16817" y="1273391"/>
                  </a:cubicBezTo>
                  <a:cubicBezTo>
                    <a:pt x="6049" y="1262623"/>
                    <a:pt x="0" y="1248019"/>
                    <a:pt x="0" y="1232791"/>
                  </a:cubicBezTo>
                  <a:lnTo>
                    <a:pt x="0" y="57417"/>
                  </a:lnTo>
                  <a:cubicBezTo>
                    <a:pt x="0" y="42189"/>
                    <a:pt x="6049" y="27585"/>
                    <a:pt x="16817" y="16817"/>
                  </a:cubicBezTo>
                  <a:cubicBezTo>
                    <a:pt x="27585" y="6049"/>
                    <a:pt x="42189" y="0"/>
                    <a:pt x="57417" y="0"/>
                  </a:cubicBezTo>
                  <a:close/>
                </a:path>
              </a:pathLst>
            </a:custGeom>
            <a:blipFill>
              <a:blip r:embed="rId4"/>
              <a:stretch>
                <a:fillRect l="0" t="-149" r="0" b="-149"/>
              </a:stretch>
            </a:blipFill>
          </p:spPr>
        </p:sp>
      </p:grpSp>
      <p:sp>
        <p:nvSpPr>
          <p:cNvPr name="Freeform 8" id="8"/>
          <p:cNvSpPr/>
          <p:nvPr/>
        </p:nvSpPr>
        <p:spPr>
          <a:xfrm flipH="false" flipV="false" rot="0">
            <a:off x="16553464" y="9039542"/>
            <a:ext cx="437516" cy="437516"/>
          </a:xfrm>
          <a:custGeom>
            <a:avLst/>
            <a:gdLst/>
            <a:ahLst/>
            <a:cxnLst/>
            <a:rect r="r" b="b" t="t" l="l"/>
            <a:pathLst>
              <a:path h="437516" w="437516">
                <a:moveTo>
                  <a:pt x="0" y="0"/>
                </a:moveTo>
                <a:lnTo>
                  <a:pt x="437516" y="0"/>
                </a:lnTo>
                <a:lnTo>
                  <a:pt x="437516" y="437516"/>
                </a:lnTo>
                <a:lnTo>
                  <a:pt x="0" y="4375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628820" y="9629617"/>
            <a:ext cx="19423867" cy="1318432"/>
            <a:chOff x="0" y="0"/>
            <a:chExt cx="5115751" cy="347241"/>
          </a:xfrm>
        </p:grpSpPr>
        <p:sp>
          <p:nvSpPr>
            <p:cNvPr name="Freeform 10" id="10"/>
            <p:cNvSpPr/>
            <p:nvPr/>
          </p:nvSpPr>
          <p:spPr>
            <a:xfrm flipH="false" flipV="false" rot="0">
              <a:off x="0" y="0"/>
              <a:ext cx="5115751" cy="347241"/>
            </a:xfrm>
            <a:custGeom>
              <a:avLst/>
              <a:gdLst/>
              <a:ahLst/>
              <a:cxnLst/>
              <a:rect r="r" b="b" t="t" l="l"/>
              <a:pathLst>
                <a:path h="347241" w="5115751">
                  <a:moveTo>
                    <a:pt x="20327" y="0"/>
                  </a:moveTo>
                  <a:lnTo>
                    <a:pt x="5095423" y="0"/>
                  </a:lnTo>
                  <a:cubicBezTo>
                    <a:pt x="5100815" y="0"/>
                    <a:pt x="5105985" y="2142"/>
                    <a:pt x="5109797" y="5954"/>
                  </a:cubicBezTo>
                  <a:cubicBezTo>
                    <a:pt x="5113609" y="9766"/>
                    <a:pt x="5115751" y="14936"/>
                    <a:pt x="5115751" y="20327"/>
                  </a:cubicBezTo>
                  <a:lnTo>
                    <a:pt x="5115751" y="326914"/>
                  </a:lnTo>
                  <a:cubicBezTo>
                    <a:pt x="5115751" y="338140"/>
                    <a:pt x="5106650" y="347241"/>
                    <a:pt x="5095423" y="347241"/>
                  </a:cubicBezTo>
                  <a:lnTo>
                    <a:pt x="20327" y="347241"/>
                  </a:lnTo>
                  <a:cubicBezTo>
                    <a:pt x="14936" y="347241"/>
                    <a:pt x="9766" y="345100"/>
                    <a:pt x="5954" y="341288"/>
                  </a:cubicBezTo>
                  <a:cubicBezTo>
                    <a:pt x="2142" y="337475"/>
                    <a:pt x="0" y="332305"/>
                    <a:pt x="0" y="326914"/>
                  </a:cubicBezTo>
                  <a:lnTo>
                    <a:pt x="0" y="20327"/>
                  </a:lnTo>
                  <a:cubicBezTo>
                    <a:pt x="0" y="14936"/>
                    <a:pt x="2142" y="9766"/>
                    <a:pt x="5954" y="5954"/>
                  </a:cubicBezTo>
                  <a:cubicBezTo>
                    <a:pt x="9766" y="2142"/>
                    <a:pt x="14936" y="0"/>
                    <a:pt x="20327" y="0"/>
                  </a:cubicBezTo>
                  <a:close/>
                </a:path>
              </a:pathLst>
            </a:custGeom>
            <a:solidFill>
              <a:srgbClr val="23211F"/>
            </a:solidFill>
          </p:spPr>
        </p:sp>
        <p:sp>
          <p:nvSpPr>
            <p:cNvPr name="TextBox 11" id="11"/>
            <p:cNvSpPr txBox="true"/>
            <p:nvPr/>
          </p:nvSpPr>
          <p:spPr>
            <a:xfrm>
              <a:off x="0" y="-47625"/>
              <a:ext cx="5115751" cy="394866"/>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1366486" y="-1279342"/>
            <a:ext cx="3086100" cy="30861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211F"/>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15" id="15"/>
          <p:cNvSpPr/>
          <p:nvPr/>
        </p:nvSpPr>
        <p:spPr>
          <a:xfrm flipH="false" flipV="false" rot="0">
            <a:off x="1719614" y="4228656"/>
            <a:ext cx="1253970" cy="681704"/>
          </a:xfrm>
          <a:custGeom>
            <a:avLst/>
            <a:gdLst/>
            <a:ahLst/>
            <a:cxnLst/>
            <a:rect r="r" b="b" t="t" l="l"/>
            <a:pathLst>
              <a:path h="681704" w="1253970">
                <a:moveTo>
                  <a:pt x="0" y="0"/>
                </a:moveTo>
                <a:lnTo>
                  <a:pt x="1253970" y="0"/>
                </a:lnTo>
                <a:lnTo>
                  <a:pt x="1253970" y="681704"/>
                </a:lnTo>
                <a:lnTo>
                  <a:pt x="0" y="6817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6666827" y="-501463"/>
            <a:ext cx="2128220" cy="2120481"/>
          </a:xfrm>
          <a:custGeom>
            <a:avLst/>
            <a:gdLst/>
            <a:ahLst/>
            <a:cxnLst/>
            <a:rect r="r" b="b" t="t" l="l"/>
            <a:pathLst>
              <a:path h="2120481" w="2128220">
                <a:moveTo>
                  <a:pt x="0" y="0"/>
                </a:moveTo>
                <a:lnTo>
                  <a:pt x="2128220" y="0"/>
                </a:lnTo>
                <a:lnTo>
                  <a:pt x="2128220" y="2120481"/>
                </a:lnTo>
                <a:lnTo>
                  <a:pt x="0" y="212048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7" id="17"/>
          <p:cNvGrpSpPr/>
          <p:nvPr/>
        </p:nvGrpSpPr>
        <p:grpSpPr>
          <a:xfrm rot="0">
            <a:off x="14954762" y="9019630"/>
            <a:ext cx="1003259" cy="238670"/>
            <a:chOff x="0" y="0"/>
            <a:chExt cx="1337678" cy="318226"/>
          </a:xfrm>
        </p:grpSpPr>
        <p:grpSp>
          <p:nvGrpSpPr>
            <p:cNvPr name="Group 18" id="18"/>
            <p:cNvGrpSpPr/>
            <p:nvPr/>
          </p:nvGrpSpPr>
          <p:grpSpPr>
            <a:xfrm rot="0">
              <a:off x="0" y="0"/>
              <a:ext cx="298548" cy="318226"/>
              <a:chOff x="0" y="0"/>
              <a:chExt cx="812800" cy="866376"/>
            </a:xfrm>
          </p:grpSpPr>
          <p:sp>
            <p:nvSpPr>
              <p:cNvPr name="Freeform 19" id="19"/>
              <p:cNvSpPr/>
              <p:nvPr/>
            </p:nvSpPr>
            <p:spPr>
              <a:xfrm flipH="false" flipV="false" rot="0">
                <a:off x="0" y="0"/>
                <a:ext cx="812800" cy="866376"/>
              </a:xfrm>
              <a:custGeom>
                <a:avLst/>
                <a:gdLst/>
                <a:ahLst/>
                <a:cxnLst/>
                <a:rect r="r" b="b" t="t" l="l"/>
                <a:pathLst>
                  <a:path h="866376" w="812800">
                    <a:moveTo>
                      <a:pt x="406400" y="0"/>
                    </a:moveTo>
                    <a:cubicBezTo>
                      <a:pt x="181951" y="0"/>
                      <a:pt x="0" y="193945"/>
                      <a:pt x="0" y="433188"/>
                    </a:cubicBezTo>
                    <a:cubicBezTo>
                      <a:pt x="0" y="672431"/>
                      <a:pt x="181951" y="866376"/>
                      <a:pt x="406400" y="866376"/>
                    </a:cubicBezTo>
                    <a:cubicBezTo>
                      <a:pt x="630849" y="866376"/>
                      <a:pt x="812800" y="672431"/>
                      <a:pt x="812800" y="433188"/>
                    </a:cubicBezTo>
                    <a:cubicBezTo>
                      <a:pt x="812800" y="193945"/>
                      <a:pt x="630849" y="0"/>
                      <a:pt x="406400" y="0"/>
                    </a:cubicBezTo>
                    <a:close/>
                  </a:path>
                </a:pathLst>
              </a:custGeom>
              <a:solidFill>
                <a:srgbClr val="23211F"/>
              </a:solidFill>
            </p:spPr>
          </p:sp>
          <p:sp>
            <p:nvSpPr>
              <p:cNvPr name="TextBox 20" id="20"/>
              <p:cNvSpPr txBox="true"/>
              <p:nvPr/>
            </p:nvSpPr>
            <p:spPr>
              <a:xfrm>
                <a:off x="76200" y="33598"/>
                <a:ext cx="660400" cy="751555"/>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519565" y="0"/>
              <a:ext cx="298548" cy="318226"/>
              <a:chOff x="0" y="0"/>
              <a:chExt cx="812800" cy="866376"/>
            </a:xfrm>
          </p:grpSpPr>
          <p:sp>
            <p:nvSpPr>
              <p:cNvPr name="Freeform 22" id="22"/>
              <p:cNvSpPr/>
              <p:nvPr/>
            </p:nvSpPr>
            <p:spPr>
              <a:xfrm flipH="false" flipV="false" rot="0">
                <a:off x="0" y="0"/>
                <a:ext cx="812800" cy="866376"/>
              </a:xfrm>
              <a:custGeom>
                <a:avLst/>
                <a:gdLst/>
                <a:ahLst/>
                <a:cxnLst/>
                <a:rect r="r" b="b" t="t" l="l"/>
                <a:pathLst>
                  <a:path h="866376" w="812800">
                    <a:moveTo>
                      <a:pt x="406400" y="0"/>
                    </a:moveTo>
                    <a:cubicBezTo>
                      <a:pt x="181951" y="0"/>
                      <a:pt x="0" y="193945"/>
                      <a:pt x="0" y="433188"/>
                    </a:cubicBezTo>
                    <a:cubicBezTo>
                      <a:pt x="0" y="672431"/>
                      <a:pt x="181951" y="866376"/>
                      <a:pt x="406400" y="866376"/>
                    </a:cubicBezTo>
                    <a:cubicBezTo>
                      <a:pt x="630849" y="866376"/>
                      <a:pt x="812800" y="672431"/>
                      <a:pt x="812800" y="433188"/>
                    </a:cubicBezTo>
                    <a:cubicBezTo>
                      <a:pt x="812800" y="193945"/>
                      <a:pt x="630849" y="0"/>
                      <a:pt x="406400" y="0"/>
                    </a:cubicBezTo>
                    <a:close/>
                  </a:path>
                </a:pathLst>
              </a:custGeom>
              <a:solidFill>
                <a:srgbClr val="23211F"/>
              </a:solidFill>
            </p:spPr>
          </p:sp>
          <p:sp>
            <p:nvSpPr>
              <p:cNvPr name="TextBox 23" id="23"/>
              <p:cNvSpPr txBox="true"/>
              <p:nvPr/>
            </p:nvSpPr>
            <p:spPr>
              <a:xfrm>
                <a:off x="76200" y="33598"/>
                <a:ext cx="660400" cy="751555"/>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1039130" y="0"/>
              <a:ext cx="298548" cy="318226"/>
              <a:chOff x="0" y="0"/>
              <a:chExt cx="812800" cy="866376"/>
            </a:xfrm>
          </p:grpSpPr>
          <p:sp>
            <p:nvSpPr>
              <p:cNvPr name="Freeform 25" id="25"/>
              <p:cNvSpPr/>
              <p:nvPr/>
            </p:nvSpPr>
            <p:spPr>
              <a:xfrm flipH="false" flipV="false" rot="0">
                <a:off x="0" y="0"/>
                <a:ext cx="812800" cy="866376"/>
              </a:xfrm>
              <a:custGeom>
                <a:avLst/>
                <a:gdLst/>
                <a:ahLst/>
                <a:cxnLst/>
                <a:rect r="r" b="b" t="t" l="l"/>
                <a:pathLst>
                  <a:path h="866376" w="812800">
                    <a:moveTo>
                      <a:pt x="406400" y="0"/>
                    </a:moveTo>
                    <a:cubicBezTo>
                      <a:pt x="181951" y="0"/>
                      <a:pt x="0" y="193945"/>
                      <a:pt x="0" y="433188"/>
                    </a:cubicBezTo>
                    <a:cubicBezTo>
                      <a:pt x="0" y="672431"/>
                      <a:pt x="181951" y="866376"/>
                      <a:pt x="406400" y="866376"/>
                    </a:cubicBezTo>
                    <a:cubicBezTo>
                      <a:pt x="630849" y="866376"/>
                      <a:pt x="812800" y="672431"/>
                      <a:pt x="812800" y="433188"/>
                    </a:cubicBezTo>
                    <a:cubicBezTo>
                      <a:pt x="812800" y="193945"/>
                      <a:pt x="630849" y="0"/>
                      <a:pt x="406400" y="0"/>
                    </a:cubicBezTo>
                    <a:close/>
                  </a:path>
                </a:pathLst>
              </a:custGeom>
              <a:solidFill>
                <a:srgbClr val="23211F"/>
              </a:solidFill>
            </p:spPr>
          </p:sp>
          <p:sp>
            <p:nvSpPr>
              <p:cNvPr name="TextBox 26" id="26"/>
              <p:cNvSpPr txBox="true"/>
              <p:nvPr/>
            </p:nvSpPr>
            <p:spPr>
              <a:xfrm>
                <a:off x="76200" y="33598"/>
                <a:ext cx="660400" cy="751555"/>
              </a:xfrm>
              <a:prstGeom prst="rect">
                <a:avLst/>
              </a:prstGeom>
            </p:spPr>
            <p:txBody>
              <a:bodyPr anchor="ctr" rtlCol="false" tIns="50800" lIns="50800" bIns="50800" rIns="50800"/>
              <a:lstStyle/>
              <a:p>
                <a:pPr algn="ctr">
                  <a:lnSpc>
                    <a:spcPts val="3359"/>
                  </a:lnSpc>
                </a:pPr>
              </a:p>
            </p:txBody>
          </p:sp>
        </p:grpSp>
      </p:grpSp>
      <p:sp>
        <p:nvSpPr>
          <p:cNvPr name="TextBox 27" id="27"/>
          <p:cNvSpPr txBox="true"/>
          <p:nvPr/>
        </p:nvSpPr>
        <p:spPr>
          <a:xfrm rot="0">
            <a:off x="1719614" y="2376735"/>
            <a:ext cx="4806652" cy="1108972"/>
          </a:xfrm>
          <a:prstGeom prst="rect">
            <a:avLst/>
          </a:prstGeom>
        </p:spPr>
        <p:txBody>
          <a:bodyPr anchor="t" rtlCol="false" tIns="0" lIns="0" bIns="0" rIns="0">
            <a:spAutoFit/>
          </a:bodyPr>
          <a:lstStyle/>
          <a:p>
            <a:pPr algn="l">
              <a:lnSpc>
                <a:spcPts val="3912"/>
              </a:lnSpc>
            </a:pPr>
            <a:r>
              <a:rPr lang="en-US" sz="3912" spc="-215" b="true">
                <a:solidFill>
                  <a:srgbClr val="23211F"/>
                </a:solidFill>
                <a:latin typeface="Heading Now 71-78 Bold"/>
                <a:ea typeface="Heading Now 71-78 Bold"/>
                <a:cs typeface="Heading Now 71-78 Bold"/>
                <a:sym typeface="Heading Now 71-78 Bold"/>
              </a:rPr>
              <a:t>INTERFACE UTILISATEUR</a:t>
            </a:r>
          </a:p>
        </p:txBody>
      </p:sp>
      <p:sp>
        <p:nvSpPr>
          <p:cNvPr name="TextBox 28" id="28"/>
          <p:cNvSpPr txBox="true"/>
          <p:nvPr/>
        </p:nvSpPr>
        <p:spPr>
          <a:xfrm rot="0">
            <a:off x="1719614" y="1580063"/>
            <a:ext cx="4361213" cy="405699"/>
          </a:xfrm>
          <a:prstGeom prst="rect">
            <a:avLst/>
          </a:prstGeom>
        </p:spPr>
        <p:txBody>
          <a:bodyPr anchor="t" rtlCol="false" tIns="0" lIns="0" bIns="0" rIns="0">
            <a:spAutoFit/>
          </a:bodyPr>
          <a:lstStyle/>
          <a:p>
            <a:pPr algn="l">
              <a:lnSpc>
                <a:spcPts val="3359"/>
              </a:lnSpc>
            </a:pPr>
            <a:r>
              <a:rPr lang="en-US" sz="2400" b="true">
                <a:solidFill>
                  <a:srgbClr val="23211F"/>
                </a:solidFill>
                <a:latin typeface="TT Firs Neue Bold"/>
                <a:ea typeface="TT Firs Neue Bold"/>
                <a:cs typeface="TT Firs Neue Bold"/>
                <a:sym typeface="TT Firs Neue Bold"/>
              </a:rPr>
              <a:t>UI-UX</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grpSp>
        <p:nvGrpSpPr>
          <p:cNvPr name="Group 2" id="2"/>
          <p:cNvGrpSpPr/>
          <p:nvPr/>
        </p:nvGrpSpPr>
        <p:grpSpPr>
          <a:xfrm rot="0">
            <a:off x="1571384" y="1906260"/>
            <a:ext cx="3462717" cy="595413"/>
            <a:chOff x="0" y="0"/>
            <a:chExt cx="911991" cy="156817"/>
          </a:xfrm>
        </p:grpSpPr>
        <p:sp>
          <p:nvSpPr>
            <p:cNvPr name="Freeform 3" id="3"/>
            <p:cNvSpPr/>
            <p:nvPr/>
          </p:nvSpPr>
          <p:spPr>
            <a:xfrm flipH="false" flipV="false" rot="0">
              <a:off x="0" y="0"/>
              <a:ext cx="911991" cy="156817"/>
            </a:xfrm>
            <a:custGeom>
              <a:avLst/>
              <a:gdLst/>
              <a:ahLst/>
              <a:cxnLst/>
              <a:rect r="r" b="b" t="t" l="l"/>
              <a:pathLst>
                <a:path h="156817" w="911991">
                  <a:moveTo>
                    <a:pt x="78408" y="0"/>
                  </a:moveTo>
                  <a:lnTo>
                    <a:pt x="833583" y="0"/>
                  </a:lnTo>
                  <a:cubicBezTo>
                    <a:pt x="876887" y="0"/>
                    <a:pt x="911991" y="35105"/>
                    <a:pt x="911991" y="78408"/>
                  </a:cubicBezTo>
                  <a:lnTo>
                    <a:pt x="911991" y="78408"/>
                  </a:lnTo>
                  <a:cubicBezTo>
                    <a:pt x="911991" y="99204"/>
                    <a:pt x="903731" y="119147"/>
                    <a:pt x="889026" y="133851"/>
                  </a:cubicBezTo>
                  <a:cubicBezTo>
                    <a:pt x="874322" y="148556"/>
                    <a:pt x="854378" y="156817"/>
                    <a:pt x="833583" y="156817"/>
                  </a:cubicBezTo>
                  <a:lnTo>
                    <a:pt x="78408" y="156817"/>
                  </a:lnTo>
                  <a:cubicBezTo>
                    <a:pt x="35105" y="156817"/>
                    <a:pt x="0" y="121712"/>
                    <a:pt x="0" y="78408"/>
                  </a:cubicBezTo>
                  <a:lnTo>
                    <a:pt x="0" y="78408"/>
                  </a:lnTo>
                  <a:cubicBezTo>
                    <a:pt x="0" y="35105"/>
                    <a:pt x="35105" y="0"/>
                    <a:pt x="78408" y="0"/>
                  </a:cubicBezTo>
                  <a:close/>
                </a:path>
              </a:pathLst>
            </a:custGeom>
            <a:solidFill>
              <a:srgbClr val="D0F046"/>
            </a:solidFill>
          </p:spPr>
        </p:sp>
        <p:sp>
          <p:nvSpPr>
            <p:cNvPr name="TextBox 4" id="4"/>
            <p:cNvSpPr txBox="true"/>
            <p:nvPr/>
          </p:nvSpPr>
          <p:spPr>
            <a:xfrm>
              <a:off x="0" y="-47625"/>
              <a:ext cx="911991" cy="204442"/>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4406043" y="1965520"/>
            <a:ext cx="476894" cy="476894"/>
          </a:xfrm>
          <a:custGeom>
            <a:avLst/>
            <a:gdLst/>
            <a:ahLst/>
            <a:cxnLst/>
            <a:rect r="r" b="b" t="t" l="l"/>
            <a:pathLst>
              <a:path h="476894" w="476894">
                <a:moveTo>
                  <a:pt x="0" y="0"/>
                </a:moveTo>
                <a:lnTo>
                  <a:pt x="476894" y="0"/>
                </a:lnTo>
                <a:lnTo>
                  <a:pt x="476894" y="476893"/>
                </a:lnTo>
                <a:lnTo>
                  <a:pt x="0" y="476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69251" y="8743950"/>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15389154" y="9342700"/>
            <a:ext cx="1737007" cy="944300"/>
          </a:xfrm>
          <a:custGeom>
            <a:avLst/>
            <a:gdLst/>
            <a:ahLst/>
            <a:cxnLst/>
            <a:rect r="r" b="b" t="t" l="l"/>
            <a:pathLst>
              <a:path h="944300" w="1737007">
                <a:moveTo>
                  <a:pt x="0" y="0"/>
                </a:moveTo>
                <a:lnTo>
                  <a:pt x="1737007" y="0"/>
                </a:lnTo>
                <a:lnTo>
                  <a:pt x="1737007" y="944300"/>
                </a:lnTo>
                <a:lnTo>
                  <a:pt x="0" y="944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6553574" y="-886466"/>
            <a:ext cx="2273306" cy="22733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17259300" y="1564241"/>
            <a:ext cx="223911" cy="22391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6" id="16"/>
          <p:cNvGrpSpPr/>
          <p:nvPr/>
        </p:nvGrpSpPr>
        <p:grpSpPr>
          <a:xfrm rot="0">
            <a:off x="916745" y="7887601"/>
            <a:ext cx="223911" cy="2239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0">
            <a:off x="1571384" y="8177841"/>
            <a:ext cx="223911" cy="22391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22" id="22"/>
          <p:cNvSpPr/>
          <p:nvPr/>
        </p:nvSpPr>
        <p:spPr>
          <a:xfrm flipH="false" flipV="false" rot="0">
            <a:off x="1616849" y="2844573"/>
            <a:ext cx="15222644" cy="6869218"/>
          </a:xfrm>
          <a:custGeom>
            <a:avLst/>
            <a:gdLst/>
            <a:ahLst/>
            <a:cxnLst/>
            <a:rect r="r" b="b" t="t" l="l"/>
            <a:pathLst>
              <a:path h="6869218" w="15222644">
                <a:moveTo>
                  <a:pt x="0" y="0"/>
                </a:moveTo>
                <a:lnTo>
                  <a:pt x="15222645" y="0"/>
                </a:lnTo>
                <a:lnTo>
                  <a:pt x="15222645" y="6869218"/>
                </a:lnTo>
                <a:lnTo>
                  <a:pt x="0" y="6869218"/>
                </a:lnTo>
                <a:lnTo>
                  <a:pt x="0" y="0"/>
                </a:lnTo>
                <a:close/>
              </a:path>
            </a:pathLst>
          </a:custGeom>
          <a:blipFill>
            <a:blip r:embed="rId6"/>
            <a:stretch>
              <a:fillRect l="0" t="0" r="0" b="0"/>
            </a:stretch>
          </a:blipFill>
        </p:spPr>
      </p:sp>
      <p:sp>
        <p:nvSpPr>
          <p:cNvPr name="TextBox 23" id="23"/>
          <p:cNvSpPr txBox="true"/>
          <p:nvPr/>
        </p:nvSpPr>
        <p:spPr>
          <a:xfrm rot="0">
            <a:off x="1683339" y="923783"/>
            <a:ext cx="10585022" cy="697330"/>
          </a:xfrm>
          <a:prstGeom prst="rect">
            <a:avLst/>
          </a:prstGeom>
        </p:spPr>
        <p:txBody>
          <a:bodyPr anchor="t" rtlCol="false" tIns="0" lIns="0" bIns="0" rIns="0">
            <a:spAutoFit/>
          </a:bodyPr>
          <a:lstStyle/>
          <a:p>
            <a:pPr algn="l">
              <a:lnSpc>
                <a:spcPts val="4478"/>
              </a:lnSpc>
            </a:pPr>
            <a:r>
              <a:rPr lang="en-US" sz="4478" spc="-246" b="true">
                <a:solidFill>
                  <a:srgbClr val="000000"/>
                </a:solidFill>
                <a:latin typeface="Heading Now 71-78 Bold"/>
                <a:ea typeface="Heading Now 71-78 Bold"/>
                <a:cs typeface="Heading Now 71-78 Bold"/>
                <a:sym typeface="Heading Now 71-78 Bold"/>
              </a:rPr>
              <a:t>APERÇU</a:t>
            </a:r>
          </a:p>
        </p:txBody>
      </p:sp>
      <p:sp>
        <p:nvSpPr>
          <p:cNvPr name="TextBox 24" id="24"/>
          <p:cNvSpPr txBox="true"/>
          <p:nvPr/>
        </p:nvSpPr>
        <p:spPr>
          <a:xfrm rot="0">
            <a:off x="2020599" y="1977305"/>
            <a:ext cx="4062450" cy="405699"/>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landing page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grpSp>
        <p:nvGrpSpPr>
          <p:cNvPr name="Group 2" id="2"/>
          <p:cNvGrpSpPr/>
          <p:nvPr/>
        </p:nvGrpSpPr>
        <p:grpSpPr>
          <a:xfrm rot="0">
            <a:off x="1571384" y="1906260"/>
            <a:ext cx="3462717" cy="595413"/>
            <a:chOff x="0" y="0"/>
            <a:chExt cx="911991" cy="156817"/>
          </a:xfrm>
        </p:grpSpPr>
        <p:sp>
          <p:nvSpPr>
            <p:cNvPr name="Freeform 3" id="3"/>
            <p:cNvSpPr/>
            <p:nvPr/>
          </p:nvSpPr>
          <p:spPr>
            <a:xfrm flipH="false" flipV="false" rot="0">
              <a:off x="0" y="0"/>
              <a:ext cx="911991" cy="156817"/>
            </a:xfrm>
            <a:custGeom>
              <a:avLst/>
              <a:gdLst/>
              <a:ahLst/>
              <a:cxnLst/>
              <a:rect r="r" b="b" t="t" l="l"/>
              <a:pathLst>
                <a:path h="156817" w="911991">
                  <a:moveTo>
                    <a:pt x="78408" y="0"/>
                  </a:moveTo>
                  <a:lnTo>
                    <a:pt x="833583" y="0"/>
                  </a:lnTo>
                  <a:cubicBezTo>
                    <a:pt x="876887" y="0"/>
                    <a:pt x="911991" y="35105"/>
                    <a:pt x="911991" y="78408"/>
                  </a:cubicBezTo>
                  <a:lnTo>
                    <a:pt x="911991" y="78408"/>
                  </a:lnTo>
                  <a:cubicBezTo>
                    <a:pt x="911991" y="99204"/>
                    <a:pt x="903731" y="119147"/>
                    <a:pt x="889026" y="133851"/>
                  </a:cubicBezTo>
                  <a:cubicBezTo>
                    <a:pt x="874322" y="148556"/>
                    <a:pt x="854378" y="156817"/>
                    <a:pt x="833583" y="156817"/>
                  </a:cubicBezTo>
                  <a:lnTo>
                    <a:pt x="78408" y="156817"/>
                  </a:lnTo>
                  <a:cubicBezTo>
                    <a:pt x="35105" y="156817"/>
                    <a:pt x="0" y="121712"/>
                    <a:pt x="0" y="78408"/>
                  </a:cubicBezTo>
                  <a:lnTo>
                    <a:pt x="0" y="78408"/>
                  </a:lnTo>
                  <a:cubicBezTo>
                    <a:pt x="0" y="35105"/>
                    <a:pt x="35105" y="0"/>
                    <a:pt x="78408" y="0"/>
                  </a:cubicBezTo>
                  <a:close/>
                </a:path>
              </a:pathLst>
            </a:custGeom>
            <a:solidFill>
              <a:srgbClr val="D0F046"/>
            </a:solidFill>
          </p:spPr>
        </p:sp>
        <p:sp>
          <p:nvSpPr>
            <p:cNvPr name="TextBox 4" id="4"/>
            <p:cNvSpPr txBox="true"/>
            <p:nvPr/>
          </p:nvSpPr>
          <p:spPr>
            <a:xfrm>
              <a:off x="0" y="-47625"/>
              <a:ext cx="911991" cy="204442"/>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4406043" y="1965520"/>
            <a:ext cx="476894" cy="476894"/>
          </a:xfrm>
          <a:custGeom>
            <a:avLst/>
            <a:gdLst/>
            <a:ahLst/>
            <a:cxnLst/>
            <a:rect r="r" b="b" t="t" l="l"/>
            <a:pathLst>
              <a:path h="476894" w="476894">
                <a:moveTo>
                  <a:pt x="0" y="0"/>
                </a:moveTo>
                <a:lnTo>
                  <a:pt x="476894" y="0"/>
                </a:lnTo>
                <a:lnTo>
                  <a:pt x="476894" y="476893"/>
                </a:lnTo>
                <a:lnTo>
                  <a:pt x="0" y="476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69251" y="8743950"/>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15389154" y="9342700"/>
            <a:ext cx="1737007" cy="944300"/>
          </a:xfrm>
          <a:custGeom>
            <a:avLst/>
            <a:gdLst/>
            <a:ahLst/>
            <a:cxnLst/>
            <a:rect r="r" b="b" t="t" l="l"/>
            <a:pathLst>
              <a:path h="944300" w="1737007">
                <a:moveTo>
                  <a:pt x="0" y="0"/>
                </a:moveTo>
                <a:lnTo>
                  <a:pt x="1737007" y="0"/>
                </a:lnTo>
                <a:lnTo>
                  <a:pt x="1737007" y="944300"/>
                </a:lnTo>
                <a:lnTo>
                  <a:pt x="0" y="944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6553574" y="-886466"/>
            <a:ext cx="2273306" cy="22733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17259300" y="1564241"/>
            <a:ext cx="223911" cy="22391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6" id="16"/>
          <p:cNvGrpSpPr/>
          <p:nvPr/>
        </p:nvGrpSpPr>
        <p:grpSpPr>
          <a:xfrm rot="0">
            <a:off x="916745" y="7887601"/>
            <a:ext cx="223911" cy="2239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0">
            <a:off x="1571384" y="8177841"/>
            <a:ext cx="223911" cy="22391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22" id="22"/>
          <p:cNvSpPr/>
          <p:nvPr/>
        </p:nvSpPr>
        <p:spPr>
          <a:xfrm flipH="false" flipV="false" rot="0">
            <a:off x="1565082" y="2787423"/>
            <a:ext cx="15561079" cy="7138645"/>
          </a:xfrm>
          <a:custGeom>
            <a:avLst/>
            <a:gdLst/>
            <a:ahLst/>
            <a:cxnLst/>
            <a:rect r="r" b="b" t="t" l="l"/>
            <a:pathLst>
              <a:path h="7138645" w="15561079">
                <a:moveTo>
                  <a:pt x="0" y="0"/>
                </a:moveTo>
                <a:lnTo>
                  <a:pt x="15561079" y="0"/>
                </a:lnTo>
                <a:lnTo>
                  <a:pt x="15561079" y="7138645"/>
                </a:lnTo>
                <a:lnTo>
                  <a:pt x="0" y="7138645"/>
                </a:lnTo>
                <a:lnTo>
                  <a:pt x="0" y="0"/>
                </a:lnTo>
                <a:close/>
              </a:path>
            </a:pathLst>
          </a:custGeom>
          <a:blipFill>
            <a:blip r:embed="rId6"/>
            <a:stretch>
              <a:fillRect l="0" t="0" r="0" b="0"/>
            </a:stretch>
          </a:blipFill>
        </p:spPr>
      </p:sp>
      <p:sp>
        <p:nvSpPr>
          <p:cNvPr name="TextBox 23" id="23"/>
          <p:cNvSpPr txBox="true"/>
          <p:nvPr/>
        </p:nvSpPr>
        <p:spPr>
          <a:xfrm rot="0">
            <a:off x="1683339" y="923783"/>
            <a:ext cx="10585022" cy="697330"/>
          </a:xfrm>
          <a:prstGeom prst="rect">
            <a:avLst/>
          </a:prstGeom>
        </p:spPr>
        <p:txBody>
          <a:bodyPr anchor="t" rtlCol="false" tIns="0" lIns="0" bIns="0" rIns="0">
            <a:spAutoFit/>
          </a:bodyPr>
          <a:lstStyle/>
          <a:p>
            <a:pPr algn="l">
              <a:lnSpc>
                <a:spcPts val="4478"/>
              </a:lnSpc>
            </a:pPr>
            <a:r>
              <a:rPr lang="en-US" sz="4478" spc="-246" b="true">
                <a:solidFill>
                  <a:srgbClr val="000000"/>
                </a:solidFill>
                <a:latin typeface="Heading Now 71-78 Bold"/>
                <a:ea typeface="Heading Now 71-78 Bold"/>
                <a:cs typeface="Heading Now 71-78 Bold"/>
                <a:sym typeface="Heading Now 71-78 Bold"/>
              </a:rPr>
              <a:t>APERÇU</a:t>
            </a:r>
          </a:p>
        </p:txBody>
      </p:sp>
      <p:sp>
        <p:nvSpPr>
          <p:cNvPr name="TextBox 24" id="24"/>
          <p:cNvSpPr txBox="true"/>
          <p:nvPr/>
        </p:nvSpPr>
        <p:spPr>
          <a:xfrm rot="0">
            <a:off x="2020599" y="1977305"/>
            <a:ext cx="4062450" cy="405699"/>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Fitbot AI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grpSp>
        <p:nvGrpSpPr>
          <p:cNvPr name="Group 2" id="2"/>
          <p:cNvGrpSpPr/>
          <p:nvPr/>
        </p:nvGrpSpPr>
        <p:grpSpPr>
          <a:xfrm rot="0">
            <a:off x="1571384" y="1906260"/>
            <a:ext cx="3462717" cy="595413"/>
            <a:chOff x="0" y="0"/>
            <a:chExt cx="911991" cy="156817"/>
          </a:xfrm>
        </p:grpSpPr>
        <p:sp>
          <p:nvSpPr>
            <p:cNvPr name="Freeform 3" id="3"/>
            <p:cNvSpPr/>
            <p:nvPr/>
          </p:nvSpPr>
          <p:spPr>
            <a:xfrm flipH="false" flipV="false" rot="0">
              <a:off x="0" y="0"/>
              <a:ext cx="911991" cy="156817"/>
            </a:xfrm>
            <a:custGeom>
              <a:avLst/>
              <a:gdLst/>
              <a:ahLst/>
              <a:cxnLst/>
              <a:rect r="r" b="b" t="t" l="l"/>
              <a:pathLst>
                <a:path h="156817" w="911991">
                  <a:moveTo>
                    <a:pt x="78408" y="0"/>
                  </a:moveTo>
                  <a:lnTo>
                    <a:pt x="833583" y="0"/>
                  </a:lnTo>
                  <a:cubicBezTo>
                    <a:pt x="876887" y="0"/>
                    <a:pt x="911991" y="35105"/>
                    <a:pt x="911991" y="78408"/>
                  </a:cubicBezTo>
                  <a:lnTo>
                    <a:pt x="911991" y="78408"/>
                  </a:lnTo>
                  <a:cubicBezTo>
                    <a:pt x="911991" y="99204"/>
                    <a:pt x="903731" y="119147"/>
                    <a:pt x="889026" y="133851"/>
                  </a:cubicBezTo>
                  <a:cubicBezTo>
                    <a:pt x="874322" y="148556"/>
                    <a:pt x="854378" y="156817"/>
                    <a:pt x="833583" y="156817"/>
                  </a:cubicBezTo>
                  <a:lnTo>
                    <a:pt x="78408" y="156817"/>
                  </a:lnTo>
                  <a:cubicBezTo>
                    <a:pt x="35105" y="156817"/>
                    <a:pt x="0" y="121712"/>
                    <a:pt x="0" y="78408"/>
                  </a:cubicBezTo>
                  <a:lnTo>
                    <a:pt x="0" y="78408"/>
                  </a:lnTo>
                  <a:cubicBezTo>
                    <a:pt x="0" y="35105"/>
                    <a:pt x="35105" y="0"/>
                    <a:pt x="78408" y="0"/>
                  </a:cubicBezTo>
                  <a:close/>
                </a:path>
              </a:pathLst>
            </a:custGeom>
            <a:solidFill>
              <a:srgbClr val="D0F046"/>
            </a:solidFill>
          </p:spPr>
        </p:sp>
        <p:sp>
          <p:nvSpPr>
            <p:cNvPr name="TextBox 4" id="4"/>
            <p:cNvSpPr txBox="true"/>
            <p:nvPr/>
          </p:nvSpPr>
          <p:spPr>
            <a:xfrm>
              <a:off x="0" y="-47625"/>
              <a:ext cx="911991" cy="204442"/>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4406043" y="1965520"/>
            <a:ext cx="476894" cy="476894"/>
          </a:xfrm>
          <a:custGeom>
            <a:avLst/>
            <a:gdLst/>
            <a:ahLst/>
            <a:cxnLst/>
            <a:rect r="r" b="b" t="t" l="l"/>
            <a:pathLst>
              <a:path h="476894" w="476894">
                <a:moveTo>
                  <a:pt x="0" y="0"/>
                </a:moveTo>
                <a:lnTo>
                  <a:pt x="476894" y="0"/>
                </a:lnTo>
                <a:lnTo>
                  <a:pt x="476894" y="476893"/>
                </a:lnTo>
                <a:lnTo>
                  <a:pt x="0" y="476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69251" y="8743950"/>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15389154" y="9342700"/>
            <a:ext cx="1737007" cy="944300"/>
          </a:xfrm>
          <a:custGeom>
            <a:avLst/>
            <a:gdLst/>
            <a:ahLst/>
            <a:cxnLst/>
            <a:rect r="r" b="b" t="t" l="l"/>
            <a:pathLst>
              <a:path h="944300" w="1737007">
                <a:moveTo>
                  <a:pt x="0" y="0"/>
                </a:moveTo>
                <a:lnTo>
                  <a:pt x="1737007" y="0"/>
                </a:lnTo>
                <a:lnTo>
                  <a:pt x="1737007" y="944300"/>
                </a:lnTo>
                <a:lnTo>
                  <a:pt x="0" y="944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6553574" y="-886466"/>
            <a:ext cx="2273306" cy="22733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17259300" y="1564241"/>
            <a:ext cx="223911" cy="22391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6" id="16"/>
          <p:cNvGrpSpPr/>
          <p:nvPr/>
        </p:nvGrpSpPr>
        <p:grpSpPr>
          <a:xfrm rot="0">
            <a:off x="916745" y="7887601"/>
            <a:ext cx="223911" cy="2239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0">
            <a:off x="1571384" y="8177841"/>
            <a:ext cx="223911" cy="22391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22" id="22"/>
          <p:cNvSpPr/>
          <p:nvPr/>
        </p:nvSpPr>
        <p:spPr>
          <a:xfrm flipH="false" flipV="false" rot="0">
            <a:off x="1683339" y="2698865"/>
            <a:ext cx="15442822" cy="7084394"/>
          </a:xfrm>
          <a:custGeom>
            <a:avLst/>
            <a:gdLst/>
            <a:ahLst/>
            <a:cxnLst/>
            <a:rect r="r" b="b" t="t" l="l"/>
            <a:pathLst>
              <a:path h="7084394" w="15442822">
                <a:moveTo>
                  <a:pt x="0" y="0"/>
                </a:moveTo>
                <a:lnTo>
                  <a:pt x="15442822" y="0"/>
                </a:lnTo>
                <a:lnTo>
                  <a:pt x="15442822" y="7084394"/>
                </a:lnTo>
                <a:lnTo>
                  <a:pt x="0" y="7084394"/>
                </a:lnTo>
                <a:lnTo>
                  <a:pt x="0" y="0"/>
                </a:lnTo>
                <a:close/>
              </a:path>
            </a:pathLst>
          </a:custGeom>
          <a:blipFill>
            <a:blip r:embed="rId6"/>
            <a:stretch>
              <a:fillRect l="0" t="0" r="0" b="0"/>
            </a:stretch>
          </a:blipFill>
        </p:spPr>
      </p:sp>
      <p:sp>
        <p:nvSpPr>
          <p:cNvPr name="TextBox 23" id="23"/>
          <p:cNvSpPr txBox="true"/>
          <p:nvPr/>
        </p:nvSpPr>
        <p:spPr>
          <a:xfrm rot="0">
            <a:off x="1683339" y="923783"/>
            <a:ext cx="10585022" cy="697330"/>
          </a:xfrm>
          <a:prstGeom prst="rect">
            <a:avLst/>
          </a:prstGeom>
        </p:spPr>
        <p:txBody>
          <a:bodyPr anchor="t" rtlCol="false" tIns="0" lIns="0" bIns="0" rIns="0">
            <a:spAutoFit/>
          </a:bodyPr>
          <a:lstStyle/>
          <a:p>
            <a:pPr algn="l">
              <a:lnSpc>
                <a:spcPts val="4478"/>
              </a:lnSpc>
            </a:pPr>
            <a:r>
              <a:rPr lang="en-US" sz="4478" spc="-246" b="true">
                <a:solidFill>
                  <a:srgbClr val="000000"/>
                </a:solidFill>
                <a:latin typeface="Heading Now 71-78 Bold"/>
                <a:ea typeface="Heading Now 71-78 Bold"/>
                <a:cs typeface="Heading Now 71-78 Bold"/>
                <a:sym typeface="Heading Now 71-78 Bold"/>
              </a:rPr>
              <a:t>APERÇU</a:t>
            </a:r>
          </a:p>
        </p:txBody>
      </p:sp>
      <p:sp>
        <p:nvSpPr>
          <p:cNvPr name="TextBox 24" id="24"/>
          <p:cNvSpPr txBox="true"/>
          <p:nvPr/>
        </p:nvSpPr>
        <p:spPr>
          <a:xfrm rot="0">
            <a:off x="2020599" y="1977305"/>
            <a:ext cx="4062450" cy="405699"/>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Dashboard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grpSp>
        <p:nvGrpSpPr>
          <p:cNvPr name="Group 2" id="2"/>
          <p:cNvGrpSpPr/>
          <p:nvPr/>
        </p:nvGrpSpPr>
        <p:grpSpPr>
          <a:xfrm rot="0">
            <a:off x="1571384" y="1906260"/>
            <a:ext cx="3462717" cy="595413"/>
            <a:chOff x="0" y="0"/>
            <a:chExt cx="911991" cy="156817"/>
          </a:xfrm>
        </p:grpSpPr>
        <p:sp>
          <p:nvSpPr>
            <p:cNvPr name="Freeform 3" id="3"/>
            <p:cNvSpPr/>
            <p:nvPr/>
          </p:nvSpPr>
          <p:spPr>
            <a:xfrm flipH="false" flipV="false" rot="0">
              <a:off x="0" y="0"/>
              <a:ext cx="911991" cy="156817"/>
            </a:xfrm>
            <a:custGeom>
              <a:avLst/>
              <a:gdLst/>
              <a:ahLst/>
              <a:cxnLst/>
              <a:rect r="r" b="b" t="t" l="l"/>
              <a:pathLst>
                <a:path h="156817" w="911991">
                  <a:moveTo>
                    <a:pt x="78408" y="0"/>
                  </a:moveTo>
                  <a:lnTo>
                    <a:pt x="833583" y="0"/>
                  </a:lnTo>
                  <a:cubicBezTo>
                    <a:pt x="876887" y="0"/>
                    <a:pt x="911991" y="35105"/>
                    <a:pt x="911991" y="78408"/>
                  </a:cubicBezTo>
                  <a:lnTo>
                    <a:pt x="911991" y="78408"/>
                  </a:lnTo>
                  <a:cubicBezTo>
                    <a:pt x="911991" y="99204"/>
                    <a:pt x="903731" y="119147"/>
                    <a:pt x="889026" y="133851"/>
                  </a:cubicBezTo>
                  <a:cubicBezTo>
                    <a:pt x="874322" y="148556"/>
                    <a:pt x="854378" y="156817"/>
                    <a:pt x="833583" y="156817"/>
                  </a:cubicBezTo>
                  <a:lnTo>
                    <a:pt x="78408" y="156817"/>
                  </a:lnTo>
                  <a:cubicBezTo>
                    <a:pt x="35105" y="156817"/>
                    <a:pt x="0" y="121712"/>
                    <a:pt x="0" y="78408"/>
                  </a:cubicBezTo>
                  <a:lnTo>
                    <a:pt x="0" y="78408"/>
                  </a:lnTo>
                  <a:cubicBezTo>
                    <a:pt x="0" y="35105"/>
                    <a:pt x="35105" y="0"/>
                    <a:pt x="78408" y="0"/>
                  </a:cubicBezTo>
                  <a:close/>
                </a:path>
              </a:pathLst>
            </a:custGeom>
            <a:solidFill>
              <a:srgbClr val="D0F046"/>
            </a:solidFill>
          </p:spPr>
        </p:sp>
        <p:sp>
          <p:nvSpPr>
            <p:cNvPr name="TextBox 4" id="4"/>
            <p:cNvSpPr txBox="true"/>
            <p:nvPr/>
          </p:nvSpPr>
          <p:spPr>
            <a:xfrm>
              <a:off x="0" y="-47625"/>
              <a:ext cx="911991" cy="204442"/>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4406043" y="1965520"/>
            <a:ext cx="476894" cy="476894"/>
          </a:xfrm>
          <a:custGeom>
            <a:avLst/>
            <a:gdLst/>
            <a:ahLst/>
            <a:cxnLst/>
            <a:rect r="r" b="b" t="t" l="l"/>
            <a:pathLst>
              <a:path h="476894" w="476894">
                <a:moveTo>
                  <a:pt x="0" y="0"/>
                </a:moveTo>
                <a:lnTo>
                  <a:pt x="476894" y="0"/>
                </a:lnTo>
                <a:lnTo>
                  <a:pt x="476894" y="476893"/>
                </a:lnTo>
                <a:lnTo>
                  <a:pt x="0" y="476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69251" y="8743950"/>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15389154" y="9342700"/>
            <a:ext cx="1737007" cy="944300"/>
          </a:xfrm>
          <a:custGeom>
            <a:avLst/>
            <a:gdLst/>
            <a:ahLst/>
            <a:cxnLst/>
            <a:rect r="r" b="b" t="t" l="l"/>
            <a:pathLst>
              <a:path h="944300" w="1737007">
                <a:moveTo>
                  <a:pt x="0" y="0"/>
                </a:moveTo>
                <a:lnTo>
                  <a:pt x="1737007" y="0"/>
                </a:lnTo>
                <a:lnTo>
                  <a:pt x="1737007" y="944300"/>
                </a:lnTo>
                <a:lnTo>
                  <a:pt x="0" y="944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6553574" y="-886466"/>
            <a:ext cx="2273306" cy="22733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17259300" y="1564241"/>
            <a:ext cx="223911" cy="22391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6" id="16"/>
          <p:cNvGrpSpPr/>
          <p:nvPr/>
        </p:nvGrpSpPr>
        <p:grpSpPr>
          <a:xfrm rot="0">
            <a:off x="916745" y="7887601"/>
            <a:ext cx="223911" cy="2239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0">
            <a:off x="1571384" y="8177841"/>
            <a:ext cx="223911" cy="22391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22" id="22"/>
          <p:cNvSpPr/>
          <p:nvPr/>
        </p:nvSpPr>
        <p:spPr>
          <a:xfrm flipH="false" flipV="false" rot="0">
            <a:off x="1683339" y="2787423"/>
            <a:ext cx="15623682" cy="7167736"/>
          </a:xfrm>
          <a:custGeom>
            <a:avLst/>
            <a:gdLst/>
            <a:ahLst/>
            <a:cxnLst/>
            <a:rect r="r" b="b" t="t" l="l"/>
            <a:pathLst>
              <a:path h="7167736" w="15623682">
                <a:moveTo>
                  <a:pt x="0" y="0"/>
                </a:moveTo>
                <a:lnTo>
                  <a:pt x="15623683" y="0"/>
                </a:lnTo>
                <a:lnTo>
                  <a:pt x="15623683" y="7167736"/>
                </a:lnTo>
                <a:lnTo>
                  <a:pt x="0" y="7167736"/>
                </a:lnTo>
                <a:lnTo>
                  <a:pt x="0" y="0"/>
                </a:lnTo>
                <a:close/>
              </a:path>
            </a:pathLst>
          </a:custGeom>
          <a:blipFill>
            <a:blip r:embed="rId6"/>
            <a:stretch>
              <a:fillRect l="0" t="0" r="0" b="0"/>
            </a:stretch>
          </a:blipFill>
        </p:spPr>
      </p:sp>
      <p:sp>
        <p:nvSpPr>
          <p:cNvPr name="TextBox 23" id="23"/>
          <p:cNvSpPr txBox="true"/>
          <p:nvPr/>
        </p:nvSpPr>
        <p:spPr>
          <a:xfrm rot="0">
            <a:off x="1683339" y="923783"/>
            <a:ext cx="10585022" cy="697330"/>
          </a:xfrm>
          <a:prstGeom prst="rect">
            <a:avLst/>
          </a:prstGeom>
        </p:spPr>
        <p:txBody>
          <a:bodyPr anchor="t" rtlCol="false" tIns="0" lIns="0" bIns="0" rIns="0">
            <a:spAutoFit/>
          </a:bodyPr>
          <a:lstStyle/>
          <a:p>
            <a:pPr algn="l">
              <a:lnSpc>
                <a:spcPts val="4478"/>
              </a:lnSpc>
            </a:pPr>
            <a:r>
              <a:rPr lang="en-US" sz="4478" spc="-246" b="true">
                <a:solidFill>
                  <a:srgbClr val="000000"/>
                </a:solidFill>
                <a:latin typeface="Heading Now 71-78 Bold"/>
                <a:ea typeface="Heading Now 71-78 Bold"/>
                <a:cs typeface="Heading Now 71-78 Bold"/>
                <a:sym typeface="Heading Now 71-78 Bold"/>
              </a:rPr>
              <a:t>APERÇU</a:t>
            </a:r>
          </a:p>
        </p:txBody>
      </p:sp>
      <p:sp>
        <p:nvSpPr>
          <p:cNvPr name="TextBox 24" id="24"/>
          <p:cNvSpPr txBox="true"/>
          <p:nvPr/>
        </p:nvSpPr>
        <p:spPr>
          <a:xfrm rot="0">
            <a:off x="2020599" y="1977305"/>
            <a:ext cx="4062450" cy="405699"/>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Dashboard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grpSp>
        <p:nvGrpSpPr>
          <p:cNvPr name="Group 2" id="2"/>
          <p:cNvGrpSpPr/>
          <p:nvPr/>
        </p:nvGrpSpPr>
        <p:grpSpPr>
          <a:xfrm rot="0">
            <a:off x="1571384" y="1906260"/>
            <a:ext cx="3462717" cy="595413"/>
            <a:chOff x="0" y="0"/>
            <a:chExt cx="911991" cy="156817"/>
          </a:xfrm>
        </p:grpSpPr>
        <p:sp>
          <p:nvSpPr>
            <p:cNvPr name="Freeform 3" id="3"/>
            <p:cNvSpPr/>
            <p:nvPr/>
          </p:nvSpPr>
          <p:spPr>
            <a:xfrm flipH="false" flipV="false" rot="0">
              <a:off x="0" y="0"/>
              <a:ext cx="911991" cy="156817"/>
            </a:xfrm>
            <a:custGeom>
              <a:avLst/>
              <a:gdLst/>
              <a:ahLst/>
              <a:cxnLst/>
              <a:rect r="r" b="b" t="t" l="l"/>
              <a:pathLst>
                <a:path h="156817" w="911991">
                  <a:moveTo>
                    <a:pt x="78408" y="0"/>
                  </a:moveTo>
                  <a:lnTo>
                    <a:pt x="833583" y="0"/>
                  </a:lnTo>
                  <a:cubicBezTo>
                    <a:pt x="876887" y="0"/>
                    <a:pt x="911991" y="35105"/>
                    <a:pt x="911991" y="78408"/>
                  </a:cubicBezTo>
                  <a:lnTo>
                    <a:pt x="911991" y="78408"/>
                  </a:lnTo>
                  <a:cubicBezTo>
                    <a:pt x="911991" y="99204"/>
                    <a:pt x="903731" y="119147"/>
                    <a:pt x="889026" y="133851"/>
                  </a:cubicBezTo>
                  <a:cubicBezTo>
                    <a:pt x="874322" y="148556"/>
                    <a:pt x="854378" y="156817"/>
                    <a:pt x="833583" y="156817"/>
                  </a:cubicBezTo>
                  <a:lnTo>
                    <a:pt x="78408" y="156817"/>
                  </a:lnTo>
                  <a:cubicBezTo>
                    <a:pt x="35105" y="156817"/>
                    <a:pt x="0" y="121712"/>
                    <a:pt x="0" y="78408"/>
                  </a:cubicBezTo>
                  <a:lnTo>
                    <a:pt x="0" y="78408"/>
                  </a:lnTo>
                  <a:cubicBezTo>
                    <a:pt x="0" y="35105"/>
                    <a:pt x="35105" y="0"/>
                    <a:pt x="78408" y="0"/>
                  </a:cubicBezTo>
                  <a:close/>
                </a:path>
              </a:pathLst>
            </a:custGeom>
            <a:solidFill>
              <a:srgbClr val="D0F046"/>
            </a:solidFill>
          </p:spPr>
        </p:sp>
        <p:sp>
          <p:nvSpPr>
            <p:cNvPr name="TextBox 4" id="4"/>
            <p:cNvSpPr txBox="true"/>
            <p:nvPr/>
          </p:nvSpPr>
          <p:spPr>
            <a:xfrm>
              <a:off x="0" y="-47625"/>
              <a:ext cx="911991" cy="204442"/>
            </a:xfrm>
            <a:prstGeom prst="rect">
              <a:avLst/>
            </a:prstGeom>
          </p:spPr>
          <p:txBody>
            <a:bodyPr anchor="ctr" rtlCol="false" tIns="50800" lIns="50800" bIns="50800" rIns="50800"/>
            <a:lstStyle/>
            <a:p>
              <a:pPr algn="ctr">
                <a:lnSpc>
                  <a:spcPts val="3360"/>
                </a:lnSpc>
              </a:pPr>
            </a:p>
          </p:txBody>
        </p:sp>
      </p:grpSp>
      <p:sp>
        <p:nvSpPr>
          <p:cNvPr name="Freeform 5" id="5"/>
          <p:cNvSpPr/>
          <p:nvPr/>
        </p:nvSpPr>
        <p:spPr>
          <a:xfrm flipH="false" flipV="false" rot="0">
            <a:off x="4406043" y="1965520"/>
            <a:ext cx="476894" cy="476894"/>
          </a:xfrm>
          <a:custGeom>
            <a:avLst/>
            <a:gdLst/>
            <a:ahLst/>
            <a:cxnLst/>
            <a:rect r="r" b="b" t="t" l="l"/>
            <a:pathLst>
              <a:path h="476894" w="476894">
                <a:moveTo>
                  <a:pt x="0" y="0"/>
                </a:moveTo>
                <a:lnTo>
                  <a:pt x="476894" y="0"/>
                </a:lnTo>
                <a:lnTo>
                  <a:pt x="476894" y="476893"/>
                </a:lnTo>
                <a:lnTo>
                  <a:pt x="0" y="476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69251" y="8743950"/>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6530516" y="1621113"/>
            <a:ext cx="1737007" cy="944300"/>
          </a:xfrm>
          <a:custGeom>
            <a:avLst/>
            <a:gdLst/>
            <a:ahLst/>
            <a:cxnLst/>
            <a:rect r="r" b="b" t="t" l="l"/>
            <a:pathLst>
              <a:path h="944300" w="1737007">
                <a:moveTo>
                  <a:pt x="0" y="0"/>
                </a:moveTo>
                <a:lnTo>
                  <a:pt x="1737007" y="0"/>
                </a:lnTo>
                <a:lnTo>
                  <a:pt x="1737007" y="944300"/>
                </a:lnTo>
                <a:lnTo>
                  <a:pt x="0" y="944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6553574" y="-886466"/>
            <a:ext cx="2273306" cy="22733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17259300" y="1564241"/>
            <a:ext cx="223911" cy="22391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6" id="16"/>
          <p:cNvGrpSpPr/>
          <p:nvPr/>
        </p:nvGrpSpPr>
        <p:grpSpPr>
          <a:xfrm rot="0">
            <a:off x="916745" y="7887601"/>
            <a:ext cx="223911" cy="2239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0">
            <a:off x="1571384" y="8177841"/>
            <a:ext cx="223911" cy="22391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0F046"/>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359"/>
                </a:lnSpc>
              </a:pPr>
            </a:p>
          </p:txBody>
        </p:sp>
      </p:grpSp>
      <p:sp>
        <p:nvSpPr>
          <p:cNvPr name="Freeform 22" id="22"/>
          <p:cNvSpPr/>
          <p:nvPr/>
        </p:nvSpPr>
        <p:spPr>
          <a:xfrm flipH="false" flipV="false" rot="0">
            <a:off x="1571384" y="3002457"/>
            <a:ext cx="8106190" cy="6934763"/>
          </a:xfrm>
          <a:custGeom>
            <a:avLst/>
            <a:gdLst/>
            <a:ahLst/>
            <a:cxnLst/>
            <a:rect r="r" b="b" t="t" l="l"/>
            <a:pathLst>
              <a:path h="6934763" w="8106190">
                <a:moveTo>
                  <a:pt x="0" y="0"/>
                </a:moveTo>
                <a:lnTo>
                  <a:pt x="8106190" y="0"/>
                </a:lnTo>
                <a:lnTo>
                  <a:pt x="8106190" y="6934763"/>
                </a:lnTo>
                <a:lnTo>
                  <a:pt x="0" y="6934763"/>
                </a:lnTo>
                <a:lnTo>
                  <a:pt x="0" y="0"/>
                </a:lnTo>
                <a:close/>
              </a:path>
            </a:pathLst>
          </a:custGeom>
          <a:blipFill>
            <a:blip r:embed="rId6"/>
            <a:stretch>
              <a:fillRect l="-6554" t="0" r="-15658" b="0"/>
            </a:stretch>
          </a:blipFill>
        </p:spPr>
      </p:sp>
      <p:sp>
        <p:nvSpPr>
          <p:cNvPr name="TextBox 23" id="23"/>
          <p:cNvSpPr txBox="true"/>
          <p:nvPr/>
        </p:nvSpPr>
        <p:spPr>
          <a:xfrm rot="0">
            <a:off x="1683339" y="923783"/>
            <a:ext cx="10585022" cy="697330"/>
          </a:xfrm>
          <a:prstGeom prst="rect">
            <a:avLst/>
          </a:prstGeom>
        </p:spPr>
        <p:txBody>
          <a:bodyPr anchor="t" rtlCol="false" tIns="0" lIns="0" bIns="0" rIns="0">
            <a:spAutoFit/>
          </a:bodyPr>
          <a:lstStyle/>
          <a:p>
            <a:pPr algn="l">
              <a:lnSpc>
                <a:spcPts val="4478"/>
              </a:lnSpc>
            </a:pPr>
            <a:r>
              <a:rPr lang="en-US" sz="4478" spc="-246" b="true">
                <a:solidFill>
                  <a:srgbClr val="000000"/>
                </a:solidFill>
                <a:latin typeface="Heading Now 71-78 Bold"/>
                <a:ea typeface="Heading Now 71-78 Bold"/>
                <a:cs typeface="Heading Now 71-78 Bold"/>
                <a:sym typeface="Heading Now 71-78 Bold"/>
              </a:rPr>
              <a:t>APERÇU</a:t>
            </a:r>
          </a:p>
        </p:txBody>
      </p:sp>
      <p:sp>
        <p:nvSpPr>
          <p:cNvPr name="TextBox 24" id="24"/>
          <p:cNvSpPr txBox="true"/>
          <p:nvPr/>
        </p:nvSpPr>
        <p:spPr>
          <a:xfrm rot="0">
            <a:off x="1951612" y="1977305"/>
            <a:ext cx="4062450" cy="405699"/>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Profil</a:t>
            </a:r>
          </a:p>
        </p:txBody>
      </p:sp>
      <p:grpSp>
        <p:nvGrpSpPr>
          <p:cNvPr name="Group 25" id="25"/>
          <p:cNvGrpSpPr/>
          <p:nvPr/>
        </p:nvGrpSpPr>
        <p:grpSpPr>
          <a:xfrm rot="0">
            <a:off x="9797029" y="2883788"/>
            <a:ext cx="3462717" cy="595413"/>
            <a:chOff x="0" y="0"/>
            <a:chExt cx="911991" cy="156817"/>
          </a:xfrm>
        </p:grpSpPr>
        <p:sp>
          <p:nvSpPr>
            <p:cNvPr name="Freeform 26" id="26"/>
            <p:cNvSpPr/>
            <p:nvPr/>
          </p:nvSpPr>
          <p:spPr>
            <a:xfrm flipH="false" flipV="false" rot="0">
              <a:off x="0" y="0"/>
              <a:ext cx="911991" cy="156817"/>
            </a:xfrm>
            <a:custGeom>
              <a:avLst/>
              <a:gdLst/>
              <a:ahLst/>
              <a:cxnLst/>
              <a:rect r="r" b="b" t="t" l="l"/>
              <a:pathLst>
                <a:path h="156817" w="911991">
                  <a:moveTo>
                    <a:pt x="78408" y="0"/>
                  </a:moveTo>
                  <a:lnTo>
                    <a:pt x="833583" y="0"/>
                  </a:lnTo>
                  <a:cubicBezTo>
                    <a:pt x="876887" y="0"/>
                    <a:pt x="911991" y="35105"/>
                    <a:pt x="911991" y="78408"/>
                  </a:cubicBezTo>
                  <a:lnTo>
                    <a:pt x="911991" y="78408"/>
                  </a:lnTo>
                  <a:cubicBezTo>
                    <a:pt x="911991" y="99204"/>
                    <a:pt x="903731" y="119147"/>
                    <a:pt x="889026" y="133851"/>
                  </a:cubicBezTo>
                  <a:cubicBezTo>
                    <a:pt x="874322" y="148556"/>
                    <a:pt x="854378" y="156817"/>
                    <a:pt x="833583" y="156817"/>
                  </a:cubicBezTo>
                  <a:lnTo>
                    <a:pt x="78408" y="156817"/>
                  </a:lnTo>
                  <a:cubicBezTo>
                    <a:pt x="35105" y="156817"/>
                    <a:pt x="0" y="121712"/>
                    <a:pt x="0" y="78408"/>
                  </a:cubicBezTo>
                  <a:lnTo>
                    <a:pt x="0" y="78408"/>
                  </a:lnTo>
                  <a:cubicBezTo>
                    <a:pt x="0" y="35105"/>
                    <a:pt x="35105" y="0"/>
                    <a:pt x="78408" y="0"/>
                  </a:cubicBezTo>
                  <a:close/>
                </a:path>
              </a:pathLst>
            </a:custGeom>
            <a:solidFill>
              <a:srgbClr val="D0F046"/>
            </a:solidFill>
          </p:spPr>
        </p:sp>
        <p:sp>
          <p:nvSpPr>
            <p:cNvPr name="TextBox 27" id="27"/>
            <p:cNvSpPr txBox="true"/>
            <p:nvPr/>
          </p:nvSpPr>
          <p:spPr>
            <a:xfrm>
              <a:off x="0" y="-47625"/>
              <a:ext cx="911991" cy="204442"/>
            </a:xfrm>
            <a:prstGeom prst="rect">
              <a:avLst/>
            </a:prstGeom>
          </p:spPr>
          <p:txBody>
            <a:bodyPr anchor="ctr" rtlCol="false" tIns="50800" lIns="50800" bIns="50800" rIns="50800"/>
            <a:lstStyle/>
            <a:p>
              <a:pPr algn="ctr">
                <a:lnSpc>
                  <a:spcPts val="3360"/>
                </a:lnSpc>
              </a:pPr>
            </a:p>
          </p:txBody>
        </p:sp>
      </p:grpSp>
      <p:grpSp>
        <p:nvGrpSpPr>
          <p:cNvPr name="Group 28" id="28"/>
          <p:cNvGrpSpPr/>
          <p:nvPr/>
        </p:nvGrpSpPr>
        <p:grpSpPr>
          <a:xfrm rot="0">
            <a:off x="9797029" y="4585561"/>
            <a:ext cx="3462717" cy="595413"/>
            <a:chOff x="0" y="0"/>
            <a:chExt cx="911991" cy="156817"/>
          </a:xfrm>
        </p:grpSpPr>
        <p:sp>
          <p:nvSpPr>
            <p:cNvPr name="Freeform 29" id="29"/>
            <p:cNvSpPr/>
            <p:nvPr/>
          </p:nvSpPr>
          <p:spPr>
            <a:xfrm flipH="false" flipV="false" rot="0">
              <a:off x="0" y="0"/>
              <a:ext cx="911991" cy="156817"/>
            </a:xfrm>
            <a:custGeom>
              <a:avLst/>
              <a:gdLst/>
              <a:ahLst/>
              <a:cxnLst/>
              <a:rect r="r" b="b" t="t" l="l"/>
              <a:pathLst>
                <a:path h="156817" w="911991">
                  <a:moveTo>
                    <a:pt x="78408" y="0"/>
                  </a:moveTo>
                  <a:lnTo>
                    <a:pt x="833583" y="0"/>
                  </a:lnTo>
                  <a:cubicBezTo>
                    <a:pt x="876887" y="0"/>
                    <a:pt x="911991" y="35105"/>
                    <a:pt x="911991" y="78408"/>
                  </a:cubicBezTo>
                  <a:lnTo>
                    <a:pt x="911991" y="78408"/>
                  </a:lnTo>
                  <a:cubicBezTo>
                    <a:pt x="911991" y="99204"/>
                    <a:pt x="903731" y="119147"/>
                    <a:pt x="889026" y="133851"/>
                  </a:cubicBezTo>
                  <a:cubicBezTo>
                    <a:pt x="874322" y="148556"/>
                    <a:pt x="854378" y="156817"/>
                    <a:pt x="833583" y="156817"/>
                  </a:cubicBezTo>
                  <a:lnTo>
                    <a:pt x="78408" y="156817"/>
                  </a:lnTo>
                  <a:cubicBezTo>
                    <a:pt x="35105" y="156817"/>
                    <a:pt x="0" y="121712"/>
                    <a:pt x="0" y="78408"/>
                  </a:cubicBezTo>
                  <a:lnTo>
                    <a:pt x="0" y="78408"/>
                  </a:lnTo>
                  <a:cubicBezTo>
                    <a:pt x="0" y="35105"/>
                    <a:pt x="35105" y="0"/>
                    <a:pt x="78408" y="0"/>
                  </a:cubicBezTo>
                  <a:close/>
                </a:path>
              </a:pathLst>
            </a:custGeom>
            <a:solidFill>
              <a:srgbClr val="D0F046"/>
            </a:solidFill>
          </p:spPr>
        </p:sp>
        <p:sp>
          <p:nvSpPr>
            <p:cNvPr name="TextBox 30" id="30"/>
            <p:cNvSpPr txBox="true"/>
            <p:nvPr/>
          </p:nvSpPr>
          <p:spPr>
            <a:xfrm>
              <a:off x="0" y="-47625"/>
              <a:ext cx="911991" cy="204442"/>
            </a:xfrm>
            <a:prstGeom prst="rect">
              <a:avLst/>
            </a:prstGeom>
          </p:spPr>
          <p:txBody>
            <a:bodyPr anchor="ctr" rtlCol="false" tIns="50800" lIns="50800" bIns="50800" rIns="50800"/>
            <a:lstStyle/>
            <a:p>
              <a:pPr algn="ctr">
                <a:lnSpc>
                  <a:spcPts val="3360"/>
                </a:lnSpc>
              </a:pPr>
            </a:p>
          </p:txBody>
        </p:sp>
      </p:grpSp>
      <p:grpSp>
        <p:nvGrpSpPr>
          <p:cNvPr name="Group 31" id="31"/>
          <p:cNvGrpSpPr/>
          <p:nvPr/>
        </p:nvGrpSpPr>
        <p:grpSpPr>
          <a:xfrm rot="0">
            <a:off x="9677574" y="6408297"/>
            <a:ext cx="3462717" cy="595413"/>
            <a:chOff x="0" y="0"/>
            <a:chExt cx="911991" cy="156817"/>
          </a:xfrm>
        </p:grpSpPr>
        <p:sp>
          <p:nvSpPr>
            <p:cNvPr name="Freeform 32" id="32"/>
            <p:cNvSpPr/>
            <p:nvPr/>
          </p:nvSpPr>
          <p:spPr>
            <a:xfrm flipH="false" flipV="false" rot="0">
              <a:off x="0" y="0"/>
              <a:ext cx="911991" cy="156817"/>
            </a:xfrm>
            <a:custGeom>
              <a:avLst/>
              <a:gdLst/>
              <a:ahLst/>
              <a:cxnLst/>
              <a:rect r="r" b="b" t="t" l="l"/>
              <a:pathLst>
                <a:path h="156817" w="911991">
                  <a:moveTo>
                    <a:pt x="78408" y="0"/>
                  </a:moveTo>
                  <a:lnTo>
                    <a:pt x="833583" y="0"/>
                  </a:lnTo>
                  <a:cubicBezTo>
                    <a:pt x="876887" y="0"/>
                    <a:pt x="911991" y="35105"/>
                    <a:pt x="911991" y="78408"/>
                  </a:cubicBezTo>
                  <a:lnTo>
                    <a:pt x="911991" y="78408"/>
                  </a:lnTo>
                  <a:cubicBezTo>
                    <a:pt x="911991" y="99204"/>
                    <a:pt x="903731" y="119147"/>
                    <a:pt x="889026" y="133851"/>
                  </a:cubicBezTo>
                  <a:cubicBezTo>
                    <a:pt x="874322" y="148556"/>
                    <a:pt x="854378" y="156817"/>
                    <a:pt x="833583" y="156817"/>
                  </a:cubicBezTo>
                  <a:lnTo>
                    <a:pt x="78408" y="156817"/>
                  </a:lnTo>
                  <a:cubicBezTo>
                    <a:pt x="35105" y="156817"/>
                    <a:pt x="0" y="121712"/>
                    <a:pt x="0" y="78408"/>
                  </a:cubicBezTo>
                  <a:lnTo>
                    <a:pt x="0" y="78408"/>
                  </a:lnTo>
                  <a:cubicBezTo>
                    <a:pt x="0" y="35105"/>
                    <a:pt x="35105" y="0"/>
                    <a:pt x="78408" y="0"/>
                  </a:cubicBezTo>
                  <a:close/>
                </a:path>
              </a:pathLst>
            </a:custGeom>
            <a:solidFill>
              <a:srgbClr val="D0F046"/>
            </a:solidFill>
          </p:spPr>
        </p:sp>
        <p:sp>
          <p:nvSpPr>
            <p:cNvPr name="TextBox 33" id="33"/>
            <p:cNvSpPr txBox="true"/>
            <p:nvPr/>
          </p:nvSpPr>
          <p:spPr>
            <a:xfrm>
              <a:off x="0" y="-47625"/>
              <a:ext cx="911991" cy="204442"/>
            </a:xfrm>
            <a:prstGeom prst="rect">
              <a:avLst/>
            </a:prstGeom>
          </p:spPr>
          <p:txBody>
            <a:bodyPr anchor="ctr" rtlCol="false" tIns="50800" lIns="50800" bIns="50800" rIns="50800"/>
            <a:lstStyle/>
            <a:p>
              <a:pPr algn="ctr">
                <a:lnSpc>
                  <a:spcPts val="3360"/>
                </a:lnSpc>
              </a:pPr>
            </a:p>
          </p:txBody>
        </p:sp>
      </p:grpSp>
      <p:sp>
        <p:nvSpPr>
          <p:cNvPr name="TextBox 34" id="34"/>
          <p:cNvSpPr txBox="true"/>
          <p:nvPr/>
        </p:nvSpPr>
        <p:spPr>
          <a:xfrm rot="0">
            <a:off x="10136290" y="3015265"/>
            <a:ext cx="3123457" cy="303884"/>
          </a:xfrm>
          <a:prstGeom prst="rect">
            <a:avLst/>
          </a:prstGeom>
        </p:spPr>
        <p:txBody>
          <a:bodyPr anchor="t" rtlCol="false" tIns="0" lIns="0" bIns="0" rIns="0">
            <a:spAutoFit/>
          </a:bodyPr>
          <a:lstStyle/>
          <a:p>
            <a:pPr algn="l">
              <a:lnSpc>
                <a:spcPts val="2583"/>
              </a:lnSpc>
              <a:spcBef>
                <a:spcPct val="0"/>
              </a:spcBef>
            </a:pPr>
            <a:r>
              <a:rPr lang="en-US" b="true" sz="1845">
                <a:solidFill>
                  <a:srgbClr val="23211F"/>
                </a:solidFill>
                <a:latin typeface="TT Firs Neue Bold"/>
                <a:ea typeface="TT Firs Neue Bold"/>
                <a:cs typeface="TT Firs Neue Bold"/>
                <a:sym typeface="TT Firs Neue Bold"/>
              </a:rPr>
              <a:t>BMR - Mifflin-St Jeor</a:t>
            </a:r>
          </a:p>
        </p:txBody>
      </p:sp>
      <p:sp>
        <p:nvSpPr>
          <p:cNvPr name="TextBox 35" id="35"/>
          <p:cNvSpPr txBox="true"/>
          <p:nvPr/>
        </p:nvSpPr>
        <p:spPr>
          <a:xfrm rot="0">
            <a:off x="10136290" y="4717038"/>
            <a:ext cx="3123457" cy="303884"/>
          </a:xfrm>
          <a:prstGeom prst="rect">
            <a:avLst/>
          </a:prstGeom>
        </p:spPr>
        <p:txBody>
          <a:bodyPr anchor="t" rtlCol="false" tIns="0" lIns="0" bIns="0" rIns="0">
            <a:spAutoFit/>
          </a:bodyPr>
          <a:lstStyle/>
          <a:p>
            <a:pPr algn="l">
              <a:lnSpc>
                <a:spcPts val="2583"/>
              </a:lnSpc>
              <a:spcBef>
                <a:spcPct val="0"/>
              </a:spcBef>
            </a:pPr>
            <a:r>
              <a:rPr lang="en-US" b="true" sz="1845">
                <a:solidFill>
                  <a:srgbClr val="23211F"/>
                </a:solidFill>
                <a:latin typeface="TT Firs Neue Bold"/>
                <a:ea typeface="TT Firs Neue Bold"/>
                <a:cs typeface="TT Firs Neue Bold"/>
                <a:sym typeface="TT Firs Neue Bold"/>
              </a:rPr>
              <a:t>BMR × facteur activité</a:t>
            </a:r>
          </a:p>
        </p:txBody>
      </p:sp>
      <p:sp>
        <p:nvSpPr>
          <p:cNvPr name="TextBox 36" id="36"/>
          <p:cNvSpPr txBox="true"/>
          <p:nvPr/>
        </p:nvSpPr>
        <p:spPr>
          <a:xfrm rot="0">
            <a:off x="10084732" y="6541647"/>
            <a:ext cx="3123457" cy="303884"/>
          </a:xfrm>
          <a:prstGeom prst="rect">
            <a:avLst/>
          </a:prstGeom>
        </p:spPr>
        <p:txBody>
          <a:bodyPr anchor="t" rtlCol="false" tIns="0" lIns="0" bIns="0" rIns="0">
            <a:spAutoFit/>
          </a:bodyPr>
          <a:lstStyle/>
          <a:p>
            <a:pPr algn="l">
              <a:lnSpc>
                <a:spcPts val="2583"/>
              </a:lnSpc>
              <a:spcBef>
                <a:spcPct val="0"/>
              </a:spcBef>
            </a:pPr>
            <a:r>
              <a:rPr lang="en-US" b="true" sz="1845">
                <a:solidFill>
                  <a:srgbClr val="23211F"/>
                </a:solidFill>
                <a:latin typeface="TT Firs Neue Bold"/>
                <a:ea typeface="TT Firs Neue Bold"/>
                <a:cs typeface="TT Firs Neue Bold"/>
                <a:sym typeface="TT Firs Neue Bold"/>
              </a:rPr>
              <a:t>MACROS</a:t>
            </a:r>
          </a:p>
        </p:txBody>
      </p:sp>
      <p:sp>
        <p:nvSpPr>
          <p:cNvPr name="TextBox 37" id="37"/>
          <p:cNvSpPr txBox="true"/>
          <p:nvPr/>
        </p:nvSpPr>
        <p:spPr>
          <a:xfrm rot="0">
            <a:off x="9915102" y="3743567"/>
            <a:ext cx="5361870" cy="570098"/>
          </a:xfrm>
          <a:prstGeom prst="rect">
            <a:avLst/>
          </a:prstGeom>
        </p:spPr>
        <p:txBody>
          <a:bodyPr anchor="t" rtlCol="false" tIns="0" lIns="0" bIns="0" rIns="0">
            <a:spAutoFit/>
          </a:bodyPr>
          <a:lstStyle/>
          <a:p>
            <a:pPr algn="just" marL="0" indent="0" lvl="0">
              <a:lnSpc>
                <a:spcPts val="2199"/>
              </a:lnSpc>
            </a:pPr>
            <a:r>
              <a:rPr lang="en-US" sz="2199">
                <a:solidFill>
                  <a:srgbClr val="060606"/>
                </a:solidFill>
                <a:latin typeface="Roboto"/>
                <a:ea typeface="Roboto"/>
                <a:cs typeface="Roboto"/>
                <a:sym typeface="Roboto"/>
              </a:rPr>
              <a:t>Métabolisme de base selon poids, taille, âge, sexe</a:t>
            </a:r>
          </a:p>
        </p:txBody>
      </p:sp>
      <p:sp>
        <p:nvSpPr>
          <p:cNvPr name="TextBox 38" id="38"/>
          <p:cNvSpPr txBox="true"/>
          <p:nvPr/>
        </p:nvSpPr>
        <p:spPr>
          <a:xfrm rot="0">
            <a:off x="9915102" y="5609599"/>
            <a:ext cx="5361870" cy="293939"/>
          </a:xfrm>
          <a:prstGeom prst="rect">
            <a:avLst/>
          </a:prstGeom>
        </p:spPr>
        <p:txBody>
          <a:bodyPr anchor="t" rtlCol="false" tIns="0" lIns="0" bIns="0" rIns="0">
            <a:spAutoFit/>
          </a:bodyPr>
          <a:lstStyle/>
          <a:p>
            <a:pPr algn="just" marL="0" indent="0" lvl="0">
              <a:lnSpc>
                <a:spcPts val="2199"/>
              </a:lnSpc>
            </a:pPr>
            <a:r>
              <a:rPr lang="en-US" sz="2199">
                <a:solidFill>
                  <a:srgbClr val="060606"/>
                </a:solidFill>
                <a:latin typeface="Roboto"/>
                <a:ea typeface="Roboto"/>
                <a:cs typeface="Roboto"/>
                <a:sym typeface="Roboto"/>
              </a:rPr>
              <a:t>Dépense Énergétique Journalière Totale</a:t>
            </a:r>
          </a:p>
        </p:txBody>
      </p:sp>
      <p:sp>
        <p:nvSpPr>
          <p:cNvPr name="TextBox 39" id="39"/>
          <p:cNvSpPr txBox="true"/>
          <p:nvPr/>
        </p:nvSpPr>
        <p:spPr>
          <a:xfrm rot="0">
            <a:off x="9915102" y="7429459"/>
            <a:ext cx="5361870" cy="570098"/>
          </a:xfrm>
          <a:prstGeom prst="rect">
            <a:avLst/>
          </a:prstGeom>
        </p:spPr>
        <p:txBody>
          <a:bodyPr anchor="t" rtlCol="false" tIns="0" lIns="0" bIns="0" rIns="0">
            <a:spAutoFit/>
          </a:bodyPr>
          <a:lstStyle/>
          <a:p>
            <a:pPr algn="just" marL="0" indent="0" lvl="0">
              <a:lnSpc>
                <a:spcPts val="2199"/>
              </a:lnSpc>
            </a:pPr>
            <a:r>
              <a:rPr lang="en-US" sz="2199">
                <a:solidFill>
                  <a:srgbClr val="060606"/>
                </a:solidFill>
                <a:latin typeface="Roboto"/>
                <a:ea typeface="Roboto"/>
                <a:cs typeface="Roboto"/>
                <a:sym typeface="Roboto"/>
              </a:rPr>
              <a:t>Répartition selon l'objectif (masse, sèche, maintien)</a:t>
            </a:r>
          </a:p>
        </p:txBody>
      </p:sp>
      <p:sp>
        <p:nvSpPr>
          <p:cNvPr name="TextBox 40" id="40"/>
          <p:cNvSpPr txBox="true"/>
          <p:nvPr/>
        </p:nvSpPr>
        <p:spPr>
          <a:xfrm rot="0">
            <a:off x="9797029" y="1917895"/>
            <a:ext cx="6041685" cy="405699"/>
          </a:xfrm>
          <a:prstGeom prst="rect">
            <a:avLst/>
          </a:prstGeom>
        </p:spPr>
        <p:txBody>
          <a:bodyPr anchor="t" rtlCol="false" tIns="0" lIns="0" bIns="0" rIns="0">
            <a:spAutoFit/>
          </a:bodyPr>
          <a:lstStyle/>
          <a:p>
            <a:pPr algn="l">
              <a:lnSpc>
                <a:spcPts val="3359"/>
              </a:lnSpc>
              <a:spcBef>
                <a:spcPct val="0"/>
              </a:spcBef>
            </a:pPr>
            <a:r>
              <a:rPr lang="en-US" b="true" sz="2400">
                <a:solidFill>
                  <a:srgbClr val="23211F"/>
                </a:solidFill>
                <a:latin typeface="TT Firs Neue Bold"/>
                <a:ea typeface="TT Firs Neue Bold"/>
                <a:cs typeface="TT Firs Neue Bold"/>
                <a:sym typeface="TT Firs Neue Bold"/>
              </a:rPr>
              <a:t>CALCULS MÉTABOLIQUES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sp>
        <p:nvSpPr>
          <p:cNvPr name="AutoShape 2" id="2"/>
          <p:cNvSpPr/>
          <p:nvPr/>
        </p:nvSpPr>
        <p:spPr>
          <a:xfrm flipH="true" flipV="true">
            <a:off x="9146359" y="61953"/>
            <a:ext cx="0" cy="10287000"/>
          </a:xfrm>
          <a:prstGeom prst="line">
            <a:avLst/>
          </a:prstGeom>
          <a:ln cap="flat" w="38100">
            <a:solidFill>
              <a:srgbClr val="57595F">
                <a:alpha val="9804"/>
              </a:srgbClr>
            </a:solidFill>
            <a:prstDash val="solid"/>
            <a:headEnd type="none" len="sm" w="sm"/>
            <a:tailEnd type="none" len="sm" w="sm"/>
          </a:ln>
        </p:spPr>
      </p:sp>
      <p:sp>
        <p:nvSpPr>
          <p:cNvPr name="AutoShape 3" id="3"/>
          <p:cNvSpPr/>
          <p:nvPr/>
        </p:nvSpPr>
        <p:spPr>
          <a:xfrm flipH="true" flipV="true">
            <a:off x="1469121" y="0"/>
            <a:ext cx="0" cy="10287000"/>
          </a:xfrm>
          <a:prstGeom prst="line">
            <a:avLst/>
          </a:prstGeom>
          <a:ln cap="flat" w="38100">
            <a:solidFill>
              <a:srgbClr val="57595F">
                <a:alpha val="9804"/>
              </a:srgbClr>
            </a:solidFill>
            <a:prstDash val="solid"/>
            <a:headEnd type="none" len="sm" w="sm"/>
            <a:tailEnd type="none" len="sm" w="sm"/>
          </a:ln>
        </p:spPr>
      </p:sp>
      <p:sp>
        <p:nvSpPr>
          <p:cNvPr name="AutoShape 4" id="4"/>
          <p:cNvSpPr/>
          <p:nvPr/>
        </p:nvSpPr>
        <p:spPr>
          <a:xfrm flipV="true">
            <a:off x="4026628" y="-61953"/>
            <a:ext cx="0" cy="10348953"/>
          </a:xfrm>
          <a:prstGeom prst="line">
            <a:avLst/>
          </a:prstGeom>
          <a:ln cap="flat" w="38100">
            <a:solidFill>
              <a:srgbClr val="57595F">
                <a:alpha val="9804"/>
              </a:srgbClr>
            </a:solidFill>
            <a:prstDash val="solid"/>
            <a:headEnd type="none" len="sm" w="sm"/>
            <a:tailEnd type="none" len="sm" w="sm"/>
          </a:ln>
        </p:spPr>
      </p:sp>
      <p:sp>
        <p:nvSpPr>
          <p:cNvPr name="AutoShape 5" id="5"/>
          <p:cNvSpPr/>
          <p:nvPr/>
        </p:nvSpPr>
        <p:spPr>
          <a:xfrm flipV="true">
            <a:off x="6584134" y="-123906"/>
            <a:ext cx="0" cy="10410906"/>
          </a:xfrm>
          <a:prstGeom prst="line">
            <a:avLst/>
          </a:prstGeom>
          <a:ln cap="flat" w="38100">
            <a:solidFill>
              <a:srgbClr val="57595F">
                <a:alpha val="9804"/>
              </a:srgbClr>
            </a:solidFill>
            <a:prstDash val="solid"/>
            <a:headEnd type="none" len="sm" w="sm"/>
            <a:tailEnd type="none" len="sm" w="sm"/>
          </a:ln>
        </p:spPr>
      </p:sp>
      <p:grpSp>
        <p:nvGrpSpPr>
          <p:cNvPr name="Group 6" id="6"/>
          <p:cNvGrpSpPr/>
          <p:nvPr/>
        </p:nvGrpSpPr>
        <p:grpSpPr>
          <a:xfrm rot="0">
            <a:off x="13113452" y="0"/>
            <a:ext cx="5174548" cy="10287000"/>
            <a:chOff x="0" y="0"/>
            <a:chExt cx="1362844" cy="2709333"/>
          </a:xfrm>
        </p:grpSpPr>
        <p:sp>
          <p:nvSpPr>
            <p:cNvPr name="Freeform 7" id="7"/>
            <p:cNvSpPr/>
            <p:nvPr/>
          </p:nvSpPr>
          <p:spPr>
            <a:xfrm flipH="false" flipV="false" rot="0">
              <a:off x="0" y="0"/>
              <a:ext cx="1362844" cy="2709333"/>
            </a:xfrm>
            <a:custGeom>
              <a:avLst/>
              <a:gdLst/>
              <a:ahLst/>
              <a:cxnLst/>
              <a:rect r="r" b="b" t="t" l="l"/>
              <a:pathLst>
                <a:path h="2709333" w="1362844">
                  <a:moveTo>
                    <a:pt x="0" y="0"/>
                  </a:moveTo>
                  <a:lnTo>
                    <a:pt x="1362844" y="0"/>
                  </a:lnTo>
                  <a:lnTo>
                    <a:pt x="1362844" y="2709333"/>
                  </a:lnTo>
                  <a:lnTo>
                    <a:pt x="0" y="2709333"/>
                  </a:lnTo>
                  <a:close/>
                </a:path>
              </a:pathLst>
            </a:custGeom>
            <a:solidFill>
              <a:srgbClr val="D0F046"/>
            </a:solidFill>
          </p:spPr>
        </p:sp>
        <p:sp>
          <p:nvSpPr>
            <p:cNvPr name="TextBox 8" id="8"/>
            <p:cNvSpPr txBox="true"/>
            <p:nvPr/>
          </p:nvSpPr>
          <p:spPr>
            <a:xfrm>
              <a:off x="0" y="-38100"/>
              <a:ext cx="1362844" cy="2747433"/>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0">
            <a:off x="10708459" y="2685781"/>
            <a:ext cx="6729217" cy="4815885"/>
            <a:chOff x="0" y="0"/>
            <a:chExt cx="1135722" cy="812800"/>
          </a:xfrm>
        </p:grpSpPr>
        <p:sp>
          <p:nvSpPr>
            <p:cNvPr name="Freeform 10" id="10"/>
            <p:cNvSpPr/>
            <p:nvPr/>
          </p:nvSpPr>
          <p:spPr>
            <a:xfrm flipH="false" flipV="false" rot="0">
              <a:off x="0" y="0"/>
              <a:ext cx="1135722" cy="812800"/>
            </a:xfrm>
            <a:custGeom>
              <a:avLst/>
              <a:gdLst/>
              <a:ahLst/>
              <a:cxnLst/>
              <a:rect r="r" b="b" t="t" l="l"/>
              <a:pathLst>
                <a:path h="812800" w="1135722">
                  <a:moveTo>
                    <a:pt x="0" y="0"/>
                  </a:moveTo>
                  <a:lnTo>
                    <a:pt x="1135722" y="0"/>
                  </a:lnTo>
                  <a:lnTo>
                    <a:pt x="1135722" y="812800"/>
                  </a:lnTo>
                  <a:lnTo>
                    <a:pt x="0" y="812800"/>
                  </a:lnTo>
                  <a:close/>
                </a:path>
              </a:pathLst>
            </a:custGeom>
            <a:blipFill>
              <a:blip r:embed="rId2"/>
              <a:stretch>
                <a:fillRect l="-3675" t="0" r="-3675" b="0"/>
              </a:stretch>
            </a:blipFill>
          </p:spPr>
        </p:sp>
      </p:grpSp>
      <p:sp>
        <p:nvSpPr>
          <p:cNvPr name="AutoShape 11" id="11"/>
          <p:cNvSpPr/>
          <p:nvPr/>
        </p:nvSpPr>
        <p:spPr>
          <a:xfrm>
            <a:off x="1469121" y="2203593"/>
            <a:ext cx="793939" cy="0"/>
          </a:xfrm>
          <a:prstGeom prst="line">
            <a:avLst/>
          </a:prstGeom>
          <a:ln cap="rnd" w="76200">
            <a:solidFill>
              <a:srgbClr val="E42119"/>
            </a:solidFill>
            <a:prstDash val="solid"/>
            <a:headEnd type="none" len="sm" w="sm"/>
            <a:tailEnd type="none" len="sm" w="sm"/>
          </a:ln>
        </p:spPr>
      </p:sp>
      <p:grpSp>
        <p:nvGrpSpPr>
          <p:cNvPr name="Group 12" id="12"/>
          <p:cNvGrpSpPr/>
          <p:nvPr/>
        </p:nvGrpSpPr>
        <p:grpSpPr>
          <a:xfrm rot="0">
            <a:off x="1511908" y="2934301"/>
            <a:ext cx="954524" cy="875354"/>
            <a:chOff x="0" y="0"/>
            <a:chExt cx="179280" cy="164410"/>
          </a:xfrm>
        </p:grpSpPr>
        <p:sp>
          <p:nvSpPr>
            <p:cNvPr name="Freeform 13" id="13"/>
            <p:cNvSpPr/>
            <p:nvPr/>
          </p:nvSpPr>
          <p:spPr>
            <a:xfrm flipH="false" flipV="false" rot="0">
              <a:off x="0" y="0"/>
              <a:ext cx="179280" cy="164410"/>
            </a:xfrm>
            <a:custGeom>
              <a:avLst/>
              <a:gdLst/>
              <a:ahLst/>
              <a:cxnLst/>
              <a:rect r="r" b="b" t="t" l="l"/>
              <a:pathLst>
                <a:path h="164410" w="179280">
                  <a:moveTo>
                    <a:pt x="82205" y="0"/>
                  </a:moveTo>
                  <a:lnTo>
                    <a:pt x="97075" y="0"/>
                  </a:lnTo>
                  <a:cubicBezTo>
                    <a:pt x="118877" y="0"/>
                    <a:pt x="139786" y="8661"/>
                    <a:pt x="155202" y="24077"/>
                  </a:cubicBezTo>
                  <a:cubicBezTo>
                    <a:pt x="170619" y="39494"/>
                    <a:pt x="179280" y="60403"/>
                    <a:pt x="179280" y="82205"/>
                  </a:cubicBezTo>
                  <a:lnTo>
                    <a:pt x="179280" y="82205"/>
                  </a:lnTo>
                  <a:cubicBezTo>
                    <a:pt x="179280" y="127606"/>
                    <a:pt x="142475" y="164410"/>
                    <a:pt x="97075" y="164410"/>
                  </a:cubicBezTo>
                  <a:lnTo>
                    <a:pt x="82205" y="164410"/>
                  </a:lnTo>
                  <a:cubicBezTo>
                    <a:pt x="36804" y="164410"/>
                    <a:pt x="0" y="127606"/>
                    <a:pt x="0" y="82205"/>
                  </a:cubicBezTo>
                  <a:lnTo>
                    <a:pt x="0" y="82205"/>
                  </a:lnTo>
                  <a:cubicBezTo>
                    <a:pt x="0" y="36804"/>
                    <a:pt x="36804" y="0"/>
                    <a:pt x="82205" y="0"/>
                  </a:cubicBezTo>
                  <a:close/>
                </a:path>
              </a:pathLst>
            </a:custGeom>
            <a:gradFill rotWithShape="true">
              <a:gsLst>
                <a:gs pos="0">
                  <a:srgbClr val="4F4F4F">
                    <a:alpha val="100000"/>
                  </a:srgbClr>
                </a:gs>
                <a:gs pos="100000">
                  <a:srgbClr val="2C2C2C">
                    <a:alpha val="100000"/>
                  </a:srgbClr>
                </a:gs>
              </a:gsLst>
              <a:path path="circle">
                <a:fillToRect l="0" r="100000" t="0" b="100000"/>
              </a:path>
              <a:tileRect r="0" l="-100000" b="0" t="-100000"/>
            </a:gradFill>
          </p:spPr>
        </p:sp>
        <p:sp>
          <p:nvSpPr>
            <p:cNvPr name="TextBox 14" id="14"/>
            <p:cNvSpPr txBox="true"/>
            <p:nvPr/>
          </p:nvSpPr>
          <p:spPr>
            <a:xfrm>
              <a:off x="0" y="-38100"/>
              <a:ext cx="179280" cy="202510"/>
            </a:xfrm>
            <a:prstGeom prst="rect">
              <a:avLst/>
            </a:prstGeom>
          </p:spPr>
          <p:txBody>
            <a:bodyPr anchor="ctr" rtlCol="false" tIns="50800" lIns="50800" bIns="50800" rIns="50800"/>
            <a:lstStyle/>
            <a:p>
              <a:pPr algn="ctr">
                <a:lnSpc>
                  <a:spcPts val="3079"/>
                </a:lnSpc>
              </a:pPr>
            </a:p>
          </p:txBody>
        </p:sp>
      </p:grpSp>
      <p:sp>
        <p:nvSpPr>
          <p:cNvPr name="AutoShape 15" id="15"/>
          <p:cNvSpPr/>
          <p:nvPr/>
        </p:nvSpPr>
        <p:spPr>
          <a:xfrm>
            <a:off x="14251759" y="8296317"/>
            <a:ext cx="733088" cy="0"/>
          </a:xfrm>
          <a:prstGeom prst="line">
            <a:avLst/>
          </a:prstGeom>
          <a:ln cap="rnd" w="76200">
            <a:solidFill>
              <a:srgbClr val="E42119"/>
            </a:solidFill>
            <a:prstDash val="solid"/>
            <a:headEnd type="none" len="sm" w="sm"/>
            <a:tailEnd type="none" len="sm" w="sm"/>
          </a:ln>
        </p:spPr>
      </p:sp>
      <p:sp>
        <p:nvSpPr>
          <p:cNvPr name="TextBox 16" id="16"/>
          <p:cNvSpPr txBox="true"/>
          <p:nvPr/>
        </p:nvSpPr>
        <p:spPr>
          <a:xfrm rot="0">
            <a:off x="1469121" y="1133475"/>
            <a:ext cx="8092369" cy="669504"/>
          </a:xfrm>
          <a:prstGeom prst="rect">
            <a:avLst/>
          </a:prstGeom>
        </p:spPr>
        <p:txBody>
          <a:bodyPr anchor="t" rtlCol="false" tIns="0" lIns="0" bIns="0" rIns="0">
            <a:spAutoFit/>
          </a:bodyPr>
          <a:lstStyle/>
          <a:p>
            <a:pPr algn="l">
              <a:lnSpc>
                <a:spcPts val="5095"/>
              </a:lnSpc>
            </a:pPr>
            <a:r>
              <a:rPr lang="en-US" sz="5095" b="true">
                <a:solidFill>
                  <a:srgbClr val="060606"/>
                </a:solidFill>
                <a:latin typeface="Garet Bold"/>
                <a:ea typeface="Garet Bold"/>
                <a:cs typeface="Garet Bold"/>
                <a:sym typeface="Garet Bold"/>
              </a:rPr>
              <a:t>OBJECTIFS SUPPORTÉS</a:t>
            </a:r>
          </a:p>
        </p:txBody>
      </p:sp>
      <p:sp>
        <p:nvSpPr>
          <p:cNvPr name="TextBox 17" id="17"/>
          <p:cNvSpPr txBox="true"/>
          <p:nvPr/>
        </p:nvSpPr>
        <p:spPr>
          <a:xfrm rot="0">
            <a:off x="2955793" y="3215111"/>
            <a:ext cx="9151596" cy="351833"/>
          </a:xfrm>
          <a:prstGeom prst="rect">
            <a:avLst/>
          </a:prstGeom>
        </p:spPr>
        <p:txBody>
          <a:bodyPr anchor="t" rtlCol="false" tIns="0" lIns="0" bIns="0" rIns="0">
            <a:spAutoFit/>
          </a:bodyPr>
          <a:lstStyle/>
          <a:p>
            <a:pPr algn="just" marL="0" indent="0" lvl="0">
              <a:lnSpc>
                <a:spcPts val="2583"/>
              </a:lnSpc>
            </a:pPr>
            <a:r>
              <a:rPr lang="en-US" b="true" sz="2583">
                <a:solidFill>
                  <a:srgbClr val="0B0A0A"/>
                </a:solidFill>
                <a:latin typeface="Roboto Bold"/>
                <a:ea typeface="Roboto Bold"/>
                <a:cs typeface="Roboto Bold"/>
                <a:sym typeface="Roboto Bold"/>
              </a:rPr>
              <a:t>💪 Musculation</a:t>
            </a:r>
          </a:p>
        </p:txBody>
      </p:sp>
      <p:grpSp>
        <p:nvGrpSpPr>
          <p:cNvPr name="Group 18" id="18"/>
          <p:cNvGrpSpPr/>
          <p:nvPr/>
        </p:nvGrpSpPr>
        <p:grpSpPr>
          <a:xfrm rot="0">
            <a:off x="1511908" y="4268146"/>
            <a:ext cx="954524" cy="875354"/>
            <a:chOff x="0" y="0"/>
            <a:chExt cx="179280" cy="164410"/>
          </a:xfrm>
        </p:grpSpPr>
        <p:sp>
          <p:nvSpPr>
            <p:cNvPr name="Freeform 19" id="19"/>
            <p:cNvSpPr/>
            <p:nvPr/>
          </p:nvSpPr>
          <p:spPr>
            <a:xfrm flipH="false" flipV="false" rot="0">
              <a:off x="0" y="0"/>
              <a:ext cx="179280" cy="164410"/>
            </a:xfrm>
            <a:custGeom>
              <a:avLst/>
              <a:gdLst/>
              <a:ahLst/>
              <a:cxnLst/>
              <a:rect r="r" b="b" t="t" l="l"/>
              <a:pathLst>
                <a:path h="164410" w="179280">
                  <a:moveTo>
                    <a:pt x="82205" y="0"/>
                  </a:moveTo>
                  <a:lnTo>
                    <a:pt x="97075" y="0"/>
                  </a:lnTo>
                  <a:cubicBezTo>
                    <a:pt x="118877" y="0"/>
                    <a:pt x="139786" y="8661"/>
                    <a:pt x="155202" y="24077"/>
                  </a:cubicBezTo>
                  <a:cubicBezTo>
                    <a:pt x="170619" y="39494"/>
                    <a:pt x="179280" y="60403"/>
                    <a:pt x="179280" y="82205"/>
                  </a:cubicBezTo>
                  <a:lnTo>
                    <a:pt x="179280" y="82205"/>
                  </a:lnTo>
                  <a:cubicBezTo>
                    <a:pt x="179280" y="127606"/>
                    <a:pt x="142475" y="164410"/>
                    <a:pt x="97075" y="164410"/>
                  </a:cubicBezTo>
                  <a:lnTo>
                    <a:pt x="82205" y="164410"/>
                  </a:lnTo>
                  <a:cubicBezTo>
                    <a:pt x="36804" y="164410"/>
                    <a:pt x="0" y="127606"/>
                    <a:pt x="0" y="82205"/>
                  </a:cubicBezTo>
                  <a:lnTo>
                    <a:pt x="0" y="82205"/>
                  </a:lnTo>
                  <a:cubicBezTo>
                    <a:pt x="0" y="36804"/>
                    <a:pt x="36804" y="0"/>
                    <a:pt x="82205" y="0"/>
                  </a:cubicBezTo>
                  <a:close/>
                </a:path>
              </a:pathLst>
            </a:custGeom>
            <a:gradFill rotWithShape="true">
              <a:gsLst>
                <a:gs pos="0">
                  <a:srgbClr val="4F4F4F">
                    <a:alpha val="100000"/>
                  </a:srgbClr>
                </a:gs>
                <a:gs pos="100000">
                  <a:srgbClr val="2C2C2C">
                    <a:alpha val="100000"/>
                  </a:srgbClr>
                </a:gs>
              </a:gsLst>
              <a:path path="circle">
                <a:fillToRect l="0" r="100000" t="0" b="100000"/>
              </a:path>
              <a:tileRect r="0" l="-100000" b="0" t="-100000"/>
            </a:gradFill>
          </p:spPr>
        </p:sp>
        <p:sp>
          <p:nvSpPr>
            <p:cNvPr name="TextBox 20" id="20"/>
            <p:cNvSpPr txBox="true"/>
            <p:nvPr/>
          </p:nvSpPr>
          <p:spPr>
            <a:xfrm>
              <a:off x="0" y="-38100"/>
              <a:ext cx="179280" cy="202510"/>
            </a:xfrm>
            <a:prstGeom prst="rect">
              <a:avLst/>
            </a:prstGeom>
          </p:spPr>
          <p:txBody>
            <a:bodyPr anchor="ctr" rtlCol="false" tIns="50800" lIns="50800" bIns="50800" rIns="50800"/>
            <a:lstStyle/>
            <a:p>
              <a:pPr algn="ctr">
                <a:lnSpc>
                  <a:spcPts val="3079"/>
                </a:lnSpc>
              </a:pPr>
            </a:p>
          </p:txBody>
        </p:sp>
      </p:grpSp>
      <p:grpSp>
        <p:nvGrpSpPr>
          <p:cNvPr name="Group 21" id="21"/>
          <p:cNvGrpSpPr/>
          <p:nvPr/>
        </p:nvGrpSpPr>
        <p:grpSpPr>
          <a:xfrm rot="0">
            <a:off x="1511908" y="5600700"/>
            <a:ext cx="954524" cy="875354"/>
            <a:chOff x="0" y="0"/>
            <a:chExt cx="179280" cy="164410"/>
          </a:xfrm>
        </p:grpSpPr>
        <p:sp>
          <p:nvSpPr>
            <p:cNvPr name="Freeform 22" id="22"/>
            <p:cNvSpPr/>
            <p:nvPr/>
          </p:nvSpPr>
          <p:spPr>
            <a:xfrm flipH="false" flipV="false" rot="0">
              <a:off x="0" y="0"/>
              <a:ext cx="179280" cy="164410"/>
            </a:xfrm>
            <a:custGeom>
              <a:avLst/>
              <a:gdLst/>
              <a:ahLst/>
              <a:cxnLst/>
              <a:rect r="r" b="b" t="t" l="l"/>
              <a:pathLst>
                <a:path h="164410" w="179280">
                  <a:moveTo>
                    <a:pt x="82205" y="0"/>
                  </a:moveTo>
                  <a:lnTo>
                    <a:pt x="97075" y="0"/>
                  </a:lnTo>
                  <a:cubicBezTo>
                    <a:pt x="118877" y="0"/>
                    <a:pt x="139786" y="8661"/>
                    <a:pt x="155202" y="24077"/>
                  </a:cubicBezTo>
                  <a:cubicBezTo>
                    <a:pt x="170619" y="39494"/>
                    <a:pt x="179280" y="60403"/>
                    <a:pt x="179280" y="82205"/>
                  </a:cubicBezTo>
                  <a:lnTo>
                    <a:pt x="179280" y="82205"/>
                  </a:lnTo>
                  <a:cubicBezTo>
                    <a:pt x="179280" y="127606"/>
                    <a:pt x="142475" y="164410"/>
                    <a:pt x="97075" y="164410"/>
                  </a:cubicBezTo>
                  <a:lnTo>
                    <a:pt x="82205" y="164410"/>
                  </a:lnTo>
                  <a:cubicBezTo>
                    <a:pt x="36804" y="164410"/>
                    <a:pt x="0" y="127606"/>
                    <a:pt x="0" y="82205"/>
                  </a:cubicBezTo>
                  <a:lnTo>
                    <a:pt x="0" y="82205"/>
                  </a:lnTo>
                  <a:cubicBezTo>
                    <a:pt x="0" y="36804"/>
                    <a:pt x="36804" y="0"/>
                    <a:pt x="82205" y="0"/>
                  </a:cubicBezTo>
                  <a:close/>
                </a:path>
              </a:pathLst>
            </a:custGeom>
            <a:gradFill rotWithShape="true">
              <a:gsLst>
                <a:gs pos="0">
                  <a:srgbClr val="4F4F4F">
                    <a:alpha val="100000"/>
                  </a:srgbClr>
                </a:gs>
                <a:gs pos="100000">
                  <a:srgbClr val="2C2C2C">
                    <a:alpha val="100000"/>
                  </a:srgbClr>
                </a:gs>
              </a:gsLst>
              <a:path path="circle">
                <a:fillToRect l="0" r="100000" t="0" b="100000"/>
              </a:path>
              <a:tileRect r="0" l="-100000" b="0" t="-100000"/>
            </a:gradFill>
          </p:spPr>
        </p:sp>
        <p:sp>
          <p:nvSpPr>
            <p:cNvPr name="TextBox 23" id="23"/>
            <p:cNvSpPr txBox="true"/>
            <p:nvPr/>
          </p:nvSpPr>
          <p:spPr>
            <a:xfrm>
              <a:off x="0" y="-38100"/>
              <a:ext cx="179280" cy="202510"/>
            </a:xfrm>
            <a:prstGeom prst="rect">
              <a:avLst/>
            </a:prstGeom>
          </p:spPr>
          <p:txBody>
            <a:bodyPr anchor="ctr" rtlCol="false" tIns="50800" lIns="50800" bIns="50800" rIns="50800"/>
            <a:lstStyle/>
            <a:p>
              <a:pPr algn="ctr">
                <a:lnSpc>
                  <a:spcPts val="3079"/>
                </a:lnSpc>
              </a:pPr>
            </a:p>
          </p:txBody>
        </p:sp>
      </p:grpSp>
      <p:grpSp>
        <p:nvGrpSpPr>
          <p:cNvPr name="Group 24" id="24"/>
          <p:cNvGrpSpPr/>
          <p:nvPr/>
        </p:nvGrpSpPr>
        <p:grpSpPr>
          <a:xfrm rot="0">
            <a:off x="1511908" y="6933254"/>
            <a:ext cx="954524" cy="875354"/>
            <a:chOff x="0" y="0"/>
            <a:chExt cx="179280" cy="164410"/>
          </a:xfrm>
        </p:grpSpPr>
        <p:sp>
          <p:nvSpPr>
            <p:cNvPr name="Freeform 25" id="25"/>
            <p:cNvSpPr/>
            <p:nvPr/>
          </p:nvSpPr>
          <p:spPr>
            <a:xfrm flipH="false" flipV="false" rot="0">
              <a:off x="0" y="0"/>
              <a:ext cx="179280" cy="164410"/>
            </a:xfrm>
            <a:custGeom>
              <a:avLst/>
              <a:gdLst/>
              <a:ahLst/>
              <a:cxnLst/>
              <a:rect r="r" b="b" t="t" l="l"/>
              <a:pathLst>
                <a:path h="164410" w="179280">
                  <a:moveTo>
                    <a:pt x="82205" y="0"/>
                  </a:moveTo>
                  <a:lnTo>
                    <a:pt x="97075" y="0"/>
                  </a:lnTo>
                  <a:cubicBezTo>
                    <a:pt x="118877" y="0"/>
                    <a:pt x="139786" y="8661"/>
                    <a:pt x="155202" y="24077"/>
                  </a:cubicBezTo>
                  <a:cubicBezTo>
                    <a:pt x="170619" y="39494"/>
                    <a:pt x="179280" y="60403"/>
                    <a:pt x="179280" y="82205"/>
                  </a:cubicBezTo>
                  <a:lnTo>
                    <a:pt x="179280" y="82205"/>
                  </a:lnTo>
                  <a:cubicBezTo>
                    <a:pt x="179280" y="127606"/>
                    <a:pt x="142475" y="164410"/>
                    <a:pt x="97075" y="164410"/>
                  </a:cubicBezTo>
                  <a:lnTo>
                    <a:pt x="82205" y="164410"/>
                  </a:lnTo>
                  <a:cubicBezTo>
                    <a:pt x="36804" y="164410"/>
                    <a:pt x="0" y="127606"/>
                    <a:pt x="0" y="82205"/>
                  </a:cubicBezTo>
                  <a:lnTo>
                    <a:pt x="0" y="82205"/>
                  </a:lnTo>
                  <a:cubicBezTo>
                    <a:pt x="0" y="36804"/>
                    <a:pt x="36804" y="0"/>
                    <a:pt x="82205" y="0"/>
                  </a:cubicBezTo>
                  <a:close/>
                </a:path>
              </a:pathLst>
            </a:custGeom>
            <a:gradFill rotWithShape="true">
              <a:gsLst>
                <a:gs pos="0">
                  <a:srgbClr val="4F4F4F">
                    <a:alpha val="100000"/>
                  </a:srgbClr>
                </a:gs>
                <a:gs pos="100000">
                  <a:srgbClr val="2C2C2C">
                    <a:alpha val="100000"/>
                  </a:srgbClr>
                </a:gs>
              </a:gsLst>
              <a:path path="circle">
                <a:fillToRect l="0" r="100000" t="0" b="100000"/>
              </a:path>
              <a:tileRect r="0" l="-100000" b="0" t="-100000"/>
            </a:gradFill>
          </p:spPr>
        </p:sp>
        <p:sp>
          <p:nvSpPr>
            <p:cNvPr name="TextBox 26" id="26"/>
            <p:cNvSpPr txBox="true"/>
            <p:nvPr/>
          </p:nvSpPr>
          <p:spPr>
            <a:xfrm>
              <a:off x="0" y="-38100"/>
              <a:ext cx="179280" cy="202510"/>
            </a:xfrm>
            <a:prstGeom prst="rect">
              <a:avLst/>
            </a:prstGeom>
          </p:spPr>
          <p:txBody>
            <a:bodyPr anchor="ctr" rtlCol="false" tIns="50800" lIns="50800" bIns="50800" rIns="50800"/>
            <a:lstStyle/>
            <a:p>
              <a:pPr algn="ctr">
                <a:lnSpc>
                  <a:spcPts val="3079"/>
                </a:lnSpc>
              </a:pPr>
            </a:p>
          </p:txBody>
        </p:sp>
      </p:grpSp>
      <p:sp>
        <p:nvSpPr>
          <p:cNvPr name="TextBox 27" id="27"/>
          <p:cNvSpPr txBox="true"/>
          <p:nvPr/>
        </p:nvSpPr>
        <p:spPr>
          <a:xfrm rot="0">
            <a:off x="2955793" y="4548956"/>
            <a:ext cx="9151596" cy="351833"/>
          </a:xfrm>
          <a:prstGeom prst="rect">
            <a:avLst/>
          </a:prstGeom>
        </p:spPr>
        <p:txBody>
          <a:bodyPr anchor="t" rtlCol="false" tIns="0" lIns="0" bIns="0" rIns="0">
            <a:spAutoFit/>
          </a:bodyPr>
          <a:lstStyle/>
          <a:p>
            <a:pPr algn="just" marL="0" indent="0" lvl="0">
              <a:lnSpc>
                <a:spcPts val="2583"/>
              </a:lnSpc>
            </a:pPr>
            <a:r>
              <a:rPr lang="en-US" b="true" sz="2583">
                <a:solidFill>
                  <a:srgbClr val="0B0A0A"/>
                </a:solidFill>
                <a:latin typeface="Roboto Bold"/>
                <a:ea typeface="Roboto Bold"/>
                <a:cs typeface="Roboto Bold"/>
                <a:sym typeface="Roboto Bold"/>
              </a:rPr>
              <a:t>🔥 Perte de poids</a:t>
            </a:r>
          </a:p>
        </p:txBody>
      </p:sp>
      <p:sp>
        <p:nvSpPr>
          <p:cNvPr name="TextBox 28" id="28"/>
          <p:cNvSpPr txBox="true"/>
          <p:nvPr/>
        </p:nvSpPr>
        <p:spPr>
          <a:xfrm rot="0">
            <a:off x="2955793" y="5881864"/>
            <a:ext cx="9151596" cy="351833"/>
          </a:xfrm>
          <a:prstGeom prst="rect">
            <a:avLst/>
          </a:prstGeom>
        </p:spPr>
        <p:txBody>
          <a:bodyPr anchor="t" rtlCol="false" tIns="0" lIns="0" bIns="0" rIns="0">
            <a:spAutoFit/>
          </a:bodyPr>
          <a:lstStyle/>
          <a:p>
            <a:pPr algn="just" marL="0" indent="0" lvl="0">
              <a:lnSpc>
                <a:spcPts val="2583"/>
              </a:lnSpc>
            </a:pPr>
            <a:r>
              <a:rPr lang="en-US" b="true" sz="2583">
                <a:solidFill>
                  <a:srgbClr val="0B0A0A"/>
                </a:solidFill>
                <a:latin typeface="Roboto Bold"/>
                <a:ea typeface="Roboto Bold"/>
                <a:cs typeface="Roboto Bold"/>
                <a:sym typeface="Roboto Bold"/>
              </a:rPr>
              <a:t>🏃 Cardio / Endurance</a:t>
            </a:r>
          </a:p>
        </p:txBody>
      </p:sp>
      <p:sp>
        <p:nvSpPr>
          <p:cNvPr name="TextBox 29" id="29"/>
          <p:cNvSpPr txBox="true"/>
          <p:nvPr/>
        </p:nvSpPr>
        <p:spPr>
          <a:xfrm rot="0">
            <a:off x="3114132" y="7149833"/>
            <a:ext cx="9151596" cy="351833"/>
          </a:xfrm>
          <a:prstGeom prst="rect">
            <a:avLst/>
          </a:prstGeom>
        </p:spPr>
        <p:txBody>
          <a:bodyPr anchor="t" rtlCol="false" tIns="0" lIns="0" bIns="0" rIns="0">
            <a:spAutoFit/>
          </a:bodyPr>
          <a:lstStyle/>
          <a:p>
            <a:pPr algn="just" marL="0" indent="0" lvl="0">
              <a:lnSpc>
                <a:spcPts val="2583"/>
              </a:lnSpc>
            </a:pPr>
            <a:r>
              <a:rPr lang="en-US" b="true" sz="2583">
                <a:solidFill>
                  <a:srgbClr val="0B0A0A"/>
                </a:solidFill>
                <a:latin typeface="Roboto Bold"/>
                <a:ea typeface="Roboto Bold"/>
                <a:cs typeface="Roboto Bold"/>
                <a:sym typeface="Roboto Bold"/>
              </a:rPr>
              <a:t>⚖️ Maintien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4F0"/>
        </a:solidFill>
      </p:bgPr>
    </p:bg>
    <p:spTree>
      <p:nvGrpSpPr>
        <p:cNvPr id="1" name=""/>
        <p:cNvGrpSpPr/>
        <p:nvPr/>
      </p:nvGrpSpPr>
      <p:grpSpPr>
        <a:xfrm>
          <a:off x="0" y="0"/>
          <a:ext cx="0" cy="0"/>
          <a:chOff x="0" y="0"/>
          <a:chExt cx="0" cy="0"/>
        </a:xfrm>
      </p:grpSpPr>
      <p:sp>
        <p:nvSpPr>
          <p:cNvPr name="TextBox 2" id="2"/>
          <p:cNvSpPr txBox="true"/>
          <p:nvPr/>
        </p:nvSpPr>
        <p:spPr>
          <a:xfrm rot="0">
            <a:off x="1663213" y="2485181"/>
            <a:ext cx="8375889" cy="2270168"/>
          </a:xfrm>
          <a:prstGeom prst="rect">
            <a:avLst/>
          </a:prstGeom>
        </p:spPr>
        <p:txBody>
          <a:bodyPr anchor="t" rtlCol="false" tIns="0" lIns="0" bIns="0" rIns="0">
            <a:spAutoFit/>
          </a:bodyPr>
          <a:lstStyle/>
          <a:p>
            <a:pPr algn="l">
              <a:lnSpc>
                <a:spcPts val="17003"/>
              </a:lnSpc>
            </a:pPr>
            <a:r>
              <a:rPr lang="en-US" sz="17003" b="true">
                <a:solidFill>
                  <a:srgbClr val="060606"/>
                </a:solidFill>
                <a:latin typeface="Garet Bold"/>
                <a:ea typeface="Garet Bold"/>
                <a:cs typeface="Garet Bold"/>
                <a:sym typeface="Garet Bold"/>
              </a:rPr>
              <a:t>Thank</a:t>
            </a:r>
          </a:p>
        </p:txBody>
      </p:sp>
      <p:grpSp>
        <p:nvGrpSpPr>
          <p:cNvPr name="Group 3" id="3"/>
          <p:cNvGrpSpPr/>
          <p:nvPr/>
        </p:nvGrpSpPr>
        <p:grpSpPr>
          <a:xfrm rot="0">
            <a:off x="13076188" y="5868172"/>
            <a:ext cx="363553" cy="36355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0C05"/>
            </a:solidFill>
          </p:spPr>
        </p:sp>
        <p:sp>
          <p:nvSpPr>
            <p:cNvPr name="TextBox 5" id="5"/>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0" y="7526922"/>
            <a:ext cx="18288000" cy="2760078"/>
            <a:chOff x="0" y="0"/>
            <a:chExt cx="4816593" cy="726934"/>
          </a:xfrm>
        </p:grpSpPr>
        <p:sp>
          <p:nvSpPr>
            <p:cNvPr name="Freeform 7" id="7"/>
            <p:cNvSpPr/>
            <p:nvPr/>
          </p:nvSpPr>
          <p:spPr>
            <a:xfrm flipH="false" flipV="false" rot="0">
              <a:off x="0" y="0"/>
              <a:ext cx="4816592" cy="726934"/>
            </a:xfrm>
            <a:custGeom>
              <a:avLst/>
              <a:gdLst/>
              <a:ahLst/>
              <a:cxnLst/>
              <a:rect r="r" b="b" t="t" l="l"/>
              <a:pathLst>
                <a:path h="726934" w="4816592">
                  <a:moveTo>
                    <a:pt x="0" y="0"/>
                  </a:moveTo>
                  <a:lnTo>
                    <a:pt x="4816592" y="0"/>
                  </a:lnTo>
                  <a:lnTo>
                    <a:pt x="4816592" y="726934"/>
                  </a:lnTo>
                  <a:lnTo>
                    <a:pt x="0" y="726934"/>
                  </a:lnTo>
                  <a:close/>
                </a:path>
              </a:pathLst>
            </a:custGeom>
            <a:solidFill>
              <a:srgbClr val="D0F046"/>
            </a:solidFill>
          </p:spPr>
        </p:sp>
        <p:sp>
          <p:nvSpPr>
            <p:cNvPr name="TextBox 8" id="8"/>
            <p:cNvSpPr txBox="true"/>
            <p:nvPr/>
          </p:nvSpPr>
          <p:spPr>
            <a:xfrm>
              <a:off x="0" y="47625"/>
              <a:ext cx="4816593" cy="679309"/>
            </a:xfrm>
            <a:prstGeom prst="rect">
              <a:avLst/>
            </a:prstGeom>
          </p:spPr>
          <p:txBody>
            <a:bodyPr anchor="ctr" rtlCol="false" tIns="50800" lIns="50800" bIns="50800" rIns="50800"/>
            <a:lstStyle/>
            <a:p>
              <a:pPr algn="ctr">
                <a:lnSpc>
                  <a:spcPts val="2199"/>
                </a:lnSpc>
              </a:pPr>
            </a:p>
          </p:txBody>
        </p:sp>
      </p:grpSp>
      <p:sp>
        <p:nvSpPr>
          <p:cNvPr name="TextBox 9" id="9"/>
          <p:cNvSpPr txBox="true"/>
          <p:nvPr/>
        </p:nvSpPr>
        <p:spPr>
          <a:xfrm rot="0">
            <a:off x="8570487" y="4472888"/>
            <a:ext cx="6170989" cy="2270088"/>
          </a:xfrm>
          <a:prstGeom prst="rect">
            <a:avLst/>
          </a:prstGeom>
        </p:spPr>
        <p:txBody>
          <a:bodyPr anchor="t" rtlCol="false" tIns="0" lIns="0" bIns="0" rIns="0">
            <a:spAutoFit/>
          </a:bodyPr>
          <a:lstStyle/>
          <a:p>
            <a:pPr algn="l">
              <a:lnSpc>
                <a:spcPts val="17000"/>
              </a:lnSpc>
            </a:pPr>
            <a:r>
              <a:rPr lang="en-US" sz="17000" spc="1377" b="true">
                <a:solidFill>
                  <a:srgbClr val="DF0C05"/>
                </a:solidFill>
                <a:latin typeface="Garet Bold"/>
                <a:ea typeface="Garet Bold"/>
                <a:cs typeface="Garet Bold"/>
                <a:sym typeface="Garet Bold"/>
              </a:rPr>
              <a:t>You</a:t>
            </a:r>
          </a:p>
        </p:txBody>
      </p:sp>
      <p:sp>
        <p:nvSpPr>
          <p:cNvPr name="AutoShape 10" id="10"/>
          <p:cNvSpPr/>
          <p:nvPr/>
        </p:nvSpPr>
        <p:spPr>
          <a:xfrm flipH="true" flipV="true">
            <a:off x="8644265" y="61953"/>
            <a:ext cx="0" cy="10287000"/>
          </a:xfrm>
          <a:prstGeom prst="line">
            <a:avLst/>
          </a:prstGeom>
          <a:ln cap="flat" w="38100">
            <a:solidFill>
              <a:srgbClr val="57595F">
                <a:alpha val="9804"/>
              </a:srgbClr>
            </a:solidFill>
            <a:prstDash val="solid"/>
            <a:headEnd type="none" len="sm" w="sm"/>
            <a:tailEnd type="none" len="sm" w="sm"/>
          </a:ln>
        </p:spPr>
      </p:sp>
      <p:sp>
        <p:nvSpPr>
          <p:cNvPr name="AutoShape 11" id="11"/>
          <p:cNvSpPr/>
          <p:nvPr/>
        </p:nvSpPr>
        <p:spPr>
          <a:xfrm flipV="true">
            <a:off x="11201772" y="0"/>
            <a:ext cx="0" cy="10348953"/>
          </a:xfrm>
          <a:prstGeom prst="line">
            <a:avLst/>
          </a:prstGeom>
          <a:ln cap="flat" w="38100">
            <a:solidFill>
              <a:srgbClr val="57595F">
                <a:alpha val="9804"/>
              </a:srgbClr>
            </a:solidFill>
            <a:prstDash val="solid"/>
            <a:headEnd type="none" len="sm" w="sm"/>
            <a:tailEnd type="none" len="sm" w="sm"/>
          </a:ln>
        </p:spPr>
      </p:sp>
      <p:sp>
        <p:nvSpPr>
          <p:cNvPr name="AutoShape 12" id="12"/>
          <p:cNvSpPr/>
          <p:nvPr/>
        </p:nvSpPr>
        <p:spPr>
          <a:xfrm flipV="true">
            <a:off x="13759279" y="-61953"/>
            <a:ext cx="0" cy="10410906"/>
          </a:xfrm>
          <a:prstGeom prst="line">
            <a:avLst/>
          </a:prstGeom>
          <a:ln cap="flat" w="38100">
            <a:solidFill>
              <a:srgbClr val="57595F">
                <a:alpha val="9804"/>
              </a:srgbClr>
            </a:solidFill>
            <a:prstDash val="solid"/>
            <a:headEnd type="none" len="sm" w="sm"/>
            <a:tailEnd type="none" len="sm" w="sm"/>
          </a:ln>
        </p:spPr>
      </p:sp>
      <p:sp>
        <p:nvSpPr>
          <p:cNvPr name="AutoShape 13" id="13"/>
          <p:cNvSpPr/>
          <p:nvPr/>
        </p:nvSpPr>
        <p:spPr>
          <a:xfrm flipV="true">
            <a:off x="16316785" y="-123906"/>
            <a:ext cx="0" cy="10472859"/>
          </a:xfrm>
          <a:prstGeom prst="line">
            <a:avLst/>
          </a:prstGeom>
          <a:ln cap="flat" w="38100">
            <a:solidFill>
              <a:srgbClr val="57595F">
                <a:alpha val="9804"/>
              </a:srgbClr>
            </a:solidFill>
            <a:prstDash val="solid"/>
            <a:headEnd type="none" len="sm" w="sm"/>
            <a:tailEnd type="none" len="sm" w="sm"/>
          </a:ln>
        </p:spPr>
      </p:sp>
      <p:sp>
        <p:nvSpPr>
          <p:cNvPr name="Freeform 14" id="14"/>
          <p:cNvSpPr/>
          <p:nvPr/>
        </p:nvSpPr>
        <p:spPr>
          <a:xfrm flipH="false" flipV="false" rot="0">
            <a:off x="14911713" y="9017468"/>
            <a:ext cx="256595" cy="481663"/>
          </a:xfrm>
          <a:custGeom>
            <a:avLst/>
            <a:gdLst/>
            <a:ahLst/>
            <a:cxnLst/>
            <a:rect r="r" b="b" t="t" l="l"/>
            <a:pathLst>
              <a:path h="481663" w="256595">
                <a:moveTo>
                  <a:pt x="0" y="0"/>
                </a:moveTo>
                <a:lnTo>
                  <a:pt x="256595" y="0"/>
                </a:lnTo>
                <a:lnTo>
                  <a:pt x="256595" y="481664"/>
                </a:lnTo>
                <a:lnTo>
                  <a:pt x="0" y="481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true" flipV="false" rot="0">
            <a:off x="12350249" y="9017468"/>
            <a:ext cx="256595" cy="481663"/>
          </a:xfrm>
          <a:custGeom>
            <a:avLst/>
            <a:gdLst/>
            <a:ahLst/>
            <a:cxnLst/>
            <a:rect r="r" b="b" t="t" l="l"/>
            <a:pathLst>
              <a:path h="481663" w="256595">
                <a:moveTo>
                  <a:pt x="256596" y="0"/>
                </a:moveTo>
                <a:lnTo>
                  <a:pt x="0" y="0"/>
                </a:lnTo>
                <a:lnTo>
                  <a:pt x="0" y="481664"/>
                </a:lnTo>
                <a:lnTo>
                  <a:pt x="256596" y="481664"/>
                </a:lnTo>
                <a:lnTo>
                  <a:pt x="2565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7153378" y="9159696"/>
            <a:ext cx="211845" cy="197208"/>
          </a:xfrm>
          <a:custGeom>
            <a:avLst/>
            <a:gdLst/>
            <a:ahLst/>
            <a:cxnLst/>
            <a:rect r="r" b="b" t="t" l="l"/>
            <a:pathLst>
              <a:path h="197208" w="211845">
                <a:moveTo>
                  <a:pt x="0" y="0"/>
                </a:moveTo>
                <a:lnTo>
                  <a:pt x="211844" y="0"/>
                </a:lnTo>
                <a:lnTo>
                  <a:pt x="211844" y="197208"/>
                </a:lnTo>
                <a:lnTo>
                  <a:pt x="0" y="1972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7153378" y="8535428"/>
            <a:ext cx="211845" cy="217378"/>
          </a:xfrm>
          <a:custGeom>
            <a:avLst/>
            <a:gdLst/>
            <a:ahLst/>
            <a:cxnLst/>
            <a:rect r="r" b="b" t="t" l="l"/>
            <a:pathLst>
              <a:path h="217378" w="211845">
                <a:moveTo>
                  <a:pt x="0" y="0"/>
                </a:moveTo>
                <a:lnTo>
                  <a:pt x="211844" y="0"/>
                </a:lnTo>
                <a:lnTo>
                  <a:pt x="211844" y="217378"/>
                </a:lnTo>
                <a:lnTo>
                  <a:pt x="0" y="2173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7153378" y="7914008"/>
            <a:ext cx="211845" cy="211845"/>
          </a:xfrm>
          <a:custGeom>
            <a:avLst/>
            <a:gdLst/>
            <a:ahLst/>
            <a:cxnLst/>
            <a:rect r="r" b="b" t="t" l="l"/>
            <a:pathLst>
              <a:path h="211845" w="211845">
                <a:moveTo>
                  <a:pt x="0" y="0"/>
                </a:moveTo>
                <a:lnTo>
                  <a:pt x="211844" y="0"/>
                </a:lnTo>
                <a:lnTo>
                  <a:pt x="211844" y="211845"/>
                </a:lnTo>
                <a:lnTo>
                  <a:pt x="0" y="2118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9" id="19"/>
          <p:cNvGrpSpPr/>
          <p:nvPr/>
        </p:nvGrpSpPr>
        <p:grpSpPr>
          <a:xfrm rot="0">
            <a:off x="7317144" y="6929892"/>
            <a:ext cx="283023" cy="28302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60606"/>
              </a:solidFill>
              <a:prstDash val="solid"/>
              <a:miter/>
            </a:ln>
          </p:spPr>
        </p:sp>
        <p:sp>
          <p:nvSpPr>
            <p:cNvPr name="TextBox 21" id="21"/>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22" id="22"/>
          <p:cNvGrpSpPr/>
          <p:nvPr/>
        </p:nvGrpSpPr>
        <p:grpSpPr>
          <a:xfrm rot="0">
            <a:off x="7390224" y="7002972"/>
            <a:ext cx="136863" cy="13686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24" id="24"/>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25" id="25"/>
          <p:cNvGrpSpPr/>
          <p:nvPr/>
        </p:nvGrpSpPr>
        <p:grpSpPr>
          <a:xfrm rot="0">
            <a:off x="7407890" y="7425390"/>
            <a:ext cx="101531" cy="10153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27" id="27"/>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28" id="28"/>
          <p:cNvGrpSpPr/>
          <p:nvPr/>
        </p:nvGrpSpPr>
        <p:grpSpPr>
          <a:xfrm rot="0">
            <a:off x="7407890" y="7812477"/>
            <a:ext cx="101531" cy="101531"/>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30" id="30"/>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31" id="31"/>
          <p:cNvGrpSpPr/>
          <p:nvPr/>
        </p:nvGrpSpPr>
        <p:grpSpPr>
          <a:xfrm rot="0">
            <a:off x="7407890" y="6231724"/>
            <a:ext cx="101531" cy="10153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33" id="33"/>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grpSp>
        <p:nvGrpSpPr>
          <p:cNvPr name="Group 34" id="34"/>
          <p:cNvGrpSpPr/>
          <p:nvPr/>
        </p:nvGrpSpPr>
        <p:grpSpPr>
          <a:xfrm rot="0">
            <a:off x="7407890" y="6618811"/>
            <a:ext cx="101531" cy="101531"/>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0606"/>
            </a:solidFill>
          </p:spPr>
        </p:sp>
        <p:sp>
          <p:nvSpPr>
            <p:cNvPr name="TextBox 36" id="36"/>
            <p:cNvSpPr txBox="true"/>
            <p:nvPr/>
          </p:nvSpPr>
          <p:spPr>
            <a:xfrm>
              <a:off x="76200" y="123825"/>
              <a:ext cx="660400" cy="612775"/>
            </a:xfrm>
            <a:prstGeom prst="rect">
              <a:avLst/>
            </a:prstGeom>
          </p:spPr>
          <p:txBody>
            <a:bodyPr anchor="ctr" rtlCol="false" tIns="50800" lIns="50800" bIns="50800" rIns="50800"/>
            <a:lstStyle/>
            <a:p>
              <a:pPr algn="ctr">
                <a:lnSpc>
                  <a:spcPts val="2199"/>
                </a:lnSpc>
              </a:pPr>
            </a:p>
          </p:txBody>
        </p:sp>
      </p:grpSp>
      <p:sp>
        <p:nvSpPr>
          <p:cNvPr name="Freeform 37" id="37"/>
          <p:cNvSpPr/>
          <p:nvPr/>
        </p:nvSpPr>
        <p:spPr>
          <a:xfrm flipH="false" flipV="false" rot="0">
            <a:off x="595106" y="9065538"/>
            <a:ext cx="433594" cy="433594"/>
          </a:xfrm>
          <a:custGeom>
            <a:avLst/>
            <a:gdLst/>
            <a:ahLst/>
            <a:cxnLst/>
            <a:rect r="r" b="b" t="t" l="l"/>
            <a:pathLst>
              <a:path h="433594" w="433594">
                <a:moveTo>
                  <a:pt x="0" y="0"/>
                </a:moveTo>
                <a:lnTo>
                  <a:pt x="433594" y="0"/>
                </a:lnTo>
                <a:lnTo>
                  <a:pt x="433594" y="433594"/>
                </a:lnTo>
                <a:lnTo>
                  <a:pt x="0" y="4335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DAHLgkcjElI</dc:identifier>
  <dcterms:modified xsi:type="dcterms:W3CDTF">2011-08-01T06:04:30Z</dcterms:modified>
  <cp:revision>1</cp:revision>
  <dc:title>Presentation</dc:title>
</cp:coreProperties>
</file>